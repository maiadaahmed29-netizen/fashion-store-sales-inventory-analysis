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57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331"/>
    <a:srgbClr val="666666"/>
    <a:srgbClr val="E7EEDC"/>
    <a:srgbClr val="F7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f3370e1e0e9b804/Documents/TheLook_eCommerce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f3370e1e0e9b804/Documents/TheLook_eCommerce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f3370e1e0e9b804/Documents/TheLook_eCommerce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f3370e1e0e9b804/Documents/TheLook_eCommerce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f3370e1e0e9b804/Documents/TheLook_eCommerce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f3370e1e0e9b804/Documents/TheLook_eCommerce_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[TheLook_eCommerce_Analysis.xlsx]Sheet2!PivotTable9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MONTHLY</a:t>
            </a:r>
            <a:r>
              <a:rPr lang="en-US" sz="1200" baseline="0" dirty="0"/>
              <a:t> SALES TREND</a:t>
            </a:r>
            <a:endParaRPr lang="en-US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280971798393182"/>
          <c:y val="0.11857632437984512"/>
          <c:w val="0.83081643816909645"/>
          <c:h val="0.69929530860435551"/>
        </c:manualLayout>
      </c:layout>
      <c:lineChart>
        <c:grouping val="standard"/>
        <c:varyColors val="0"/>
        <c:ser>
          <c:idx val="0"/>
          <c:order val="0"/>
          <c:tx>
            <c:strRef>
              <c:f>Sheet2!$E$9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405331"/>
              </a:solidFill>
              <a:round/>
            </a:ln>
            <a:effectLst/>
          </c:spPr>
          <c:marker>
            <c:symbol val="none"/>
          </c:marker>
          <c:cat>
            <c:multiLvlStrRef>
              <c:f>Sheet2!$D$10:$D$77</c:f>
              <c:multiLvlStrCache>
                <c:ptCount val="61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Dec</c:v>
                  </c:pt>
                  <c:pt idx="48">
                    <c:v>Jan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Apr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Aug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Dec</c:v>
                  </c:pt>
                  <c:pt idx="60">
                    <c:v>Jan</c:v>
                  </c:pt>
                </c:lvl>
                <c:lvl>
                  <c:pt idx="0">
                    <c:v>2019</c:v>
                  </c:pt>
                  <c:pt idx="12">
                    <c:v>2020</c:v>
                  </c:pt>
                  <c:pt idx="24">
                    <c:v>2021</c:v>
                  </c:pt>
                  <c:pt idx="36">
                    <c:v>2022</c:v>
                  </c:pt>
                  <c:pt idx="48">
                    <c:v>2023</c:v>
                  </c:pt>
                  <c:pt idx="60">
                    <c:v>2024</c:v>
                  </c:pt>
                </c:lvl>
              </c:multiLvlStrCache>
            </c:multiLvlStrRef>
          </c:cat>
          <c:val>
            <c:numRef>
              <c:f>Sheet2!$E$10:$E$77</c:f>
              <c:numCache>
                <c:formatCode>\$#,##0.00;\(\$#,##0.00\);\$#,##0.00</c:formatCode>
                <c:ptCount val="61"/>
                <c:pt idx="0">
                  <c:v>1965.08</c:v>
                </c:pt>
                <c:pt idx="1">
                  <c:v>4015.89</c:v>
                </c:pt>
                <c:pt idx="2">
                  <c:v>8088.34</c:v>
                </c:pt>
                <c:pt idx="3">
                  <c:v>9041.0400000000009</c:v>
                </c:pt>
                <c:pt idx="4">
                  <c:v>16191.84</c:v>
                </c:pt>
                <c:pt idx="5">
                  <c:v>16132.3</c:v>
                </c:pt>
                <c:pt idx="6">
                  <c:v>19172.13</c:v>
                </c:pt>
                <c:pt idx="7">
                  <c:v>22126.65</c:v>
                </c:pt>
                <c:pt idx="8">
                  <c:v>27851.83</c:v>
                </c:pt>
                <c:pt idx="9">
                  <c:v>30026.67</c:v>
                </c:pt>
                <c:pt idx="10">
                  <c:v>28294.44</c:v>
                </c:pt>
                <c:pt idx="11">
                  <c:v>38374.6</c:v>
                </c:pt>
                <c:pt idx="12">
                  <c:v>41761.449999999997</c:v>
                </c:pt>
                <c:pt idx="13">
                  <c:v>45098.45</c:v>
                </c:pt>
                <c:pt idx="14">
                  <c:v>45869.65</c:v>
                </c:pt>
                <c:pt idx="15">
                  <c:v>48872.66</c:v>
                </c:pt>
                <c:pt idx="16">
                  <c:v>59225.82</c:v>
                </c:pt>
                <c:pt idx="17">
                  <c:v>60432.99</c:v>
                </c:pt>
                <c:pt idx="18">
                  <c:v>65447.28</c:v>
                </c:pt>
                <c:pt idx="19">
                  <c:v>65565.16</c:v>
                </c:pt>
                <c:pt idx="20">
                  <c:v>67757.31</c:v>
                </c:pt>
                <c:pt idx="21">
                  <c:v>77030.320000000007</c:v>
                </c:pt>
                <c:pt idx="22">
                  <c:v>77412.77</c:v>
                </c:pt>
                <c:pt idx="23">
                  <c:v>93857.74</c:v>
                </c:pt>
                <c:pt idx="24">
                  <c:v>104595.29</c:v>
                </c:pt>
                <c:pt idx="25">
                  <c:v>86056.42</c:v>
                </c:pt>
                <c:pt idx="26">
                  <c:v>101127.16</c:v>
                </c:pt>
                <c:pt idx="27">
                  <c:v>102116.41</c:v>
                </c:pt>
                <c:pt idx="28">
                  <c:v>111689.32</c:v>
                </c:pt>
                <c:pt idx="29">
                  <c:v>113680.76</c:v>
                </c:pt>
                <c:pt idx="30">
                  <c:v>119116.85</c:v>
                </c:pt>
                <c:pt idx="31">
                  <c:v>129475.44</c:v>
                </c:pt>
                <c:pt idx="32">
                  <c:v>136581.34</c:v>
                </c:pt>
                <c:pt idx="33">
                  <c:v>145946.9</c:v>
                </c:pt>
                <c:pt idx="34">
                  <c:v>145253.79</c:v>
                </c:pt>
                <c:pt idx="35">
                  <c:v>154156.9</c:v>
                </c:pt>
                <c:pt idx="36">
                  <c:v>160783.71</c:v>
                </c:pt>
                <c:pt idx="37">
                  <c:v>145237.76999999999</c:v>
                </c:pt>
                <c:pt idx="38">
                  <c:v>172255.88</c:v>
                </c:pt>
                <c:pt idx="39">
                  <c:v>175860.98</c:v>
                </c:pt>
                <c:pt idx="40">
                  <c:v>195858.86</c:v>
                </c:pt>
                <c:pt idx="41">
                  <c:v>198783.41</c:v>
                </c:pt>
                <c:pt idx="42">
                  <c:v>215255.99</c:v>
                </c:pt>
                <c:pt idx="43">
                  <c:v>221540.74</c:v>
                </c:pt>
                <c:pt idx="44">
                  <c:v>217381.41</c:v>
                </c:pt>
                <c:pt idx="45">
                  <c:v>256401.28</c:v>
                </c:pt>
                <c:pt idx="46">
                  <c:v>256026.89</c:v>
                </c:pt>
                <c:pt idx="47">
                  <c:v>264104.63</c:v>
                </c:pt>
                <c:pt idx="48">
                  <c:v>287432.2</c:v>
                </c:pt>
                <c:pt idx="49">
                  <c:v>271405.06</c:v>
                </c:pt>
                <c:pt idx="50">
                  <c:v>326599.64</c:v>
                </c:pt>
                <c:pt idx="51">
                  <c:v>314830.90000000002</c:v>
                </c:pt>
                <c:pt idx="52">
                  <c:v>344931.28</c:v>
                </c:pt>
                <c:pt idx="53">
                  <c:v>362231.67</c:v>
                </c:pt>
                <c:pt idx="54">
                  <c:v>418420.34</c:v>
                </c:pt>
                <c:pt idx="55">
                  <c:v>447330.84</c:v>
                </c:pt>
                <c:pt idx="56">
                  <c:v>481740.36</c:v>
                </c:pt>
                <c:pt idx="57">
                  <c:v>544897.26</c:v>
                </c:pt>
                <c:pt idx="58">
                  <c:v>582120.22</c:v>
                </c:pt>
                <c:pt idx="59">
                  <c:v>719515.34</c:v>
                </c:pt>
                <c:pt idx="60">
                  <c:v>826763.25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5B-433C-8519-4C364B98A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4315647"/>
        <c:axId val="2114318047"/>
      </c:lineChart>
      <c:catAx>
        <c:axId val="2114315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318047"/>
        <c:crosses val="autoZero"/>
        <c:auto val="1"/>
        <c:lblAlgn val="ctr"/>
        <c:lblOffset val="100"/>
        <c:noMultiLvlLbl val="0"/>
      </c:catAx>
      <c:valAx>
        <c:axId val="211431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;\(\$#,##0.00\);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4315647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[TheLook_eCommerce_Analysis.xlsx]Sheet4!PivotTable4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307C3D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40533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rgbClr val="7E9568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rgbClr val="D6B766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rgbClr val="D9786F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rgbClr val="8A8A8A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rgbClr val="307C3D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7E9568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rgbClr val="40533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rgbClr val="8A8A8A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rgbClr val="D9786F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rgbClr val="D6B766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rgbClr val="307C3D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7E9568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rgbClr val="40533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rgbClr val="8A8A8A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rgbClr val="D9786F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rgbClr val="D6B76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3770595066526931"/>
          <c:y val="0.12499623843236178"/>
          <c:w val="0.55471725472672451"/>
          <c:h val="0.85838744539185063"/>
        </c:manualLayout>
      </c:layout>
      <c:doughnutChart>
        <c:varyColors val="1"/>
        <c:ser>
          <c:idx val="0"/>
          <c:order val="0"/>
          <c:tx>
            <c:strRef>
              <c:f>Sheet4!$Y$9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07C3D"/>
            </a:solidFill>
          </c:spPr>
          <c:dPt>
            <c:idx val="0"/>
            <c:bubble3D val="0"/>
            <c:spPr>
              <a:solidFill>
                <a:srgbClr val="7E956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F2-4827-8B5F-6DE4ACE24DE7}"/>
              </c:ext>
            </c:extLst>
          </c:dPt>
          <c:dPt>
            <c:idx val="1"/>
            <c:bubble3D val="0"/>
            <c:spPr>
              <a:solidFill>
                <a:srgbClr val="40533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F2-4827-8B5F-6DE4ACE24DE7}"/>
              </c:ext>
            </c:extLst>
          </c:dPt>
          <c:dPt>
            <c:idx val="2"/>
            <c:bubble3D val="0"/>
            <c:spPr>
              <a:solidFill>
                <a:srgbClr val="8A8A8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F2-4827-8B5F-6DE4ACE24DE7}"/>
              </c:ext>
            </c:extLst>
          </c:dPt>
          <c:dPt>
            <c:idx val="3"/>
            <c:bubble3D val="0"/>
            <c:spPr>
              <a:solidFill>
                <a:srgbClr val="D9786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F2-4827-8B5F-6DE4ACE24DE7}"/>
              </c:ext>
            </c:extLst>
          </c:dPt>
          <c:dPt>
            <c:idx val="4"/>
            <c:bubble3D val="0"/>
            <c:spPr>
              <a:solidFill>
                <a:srgbClr val="D6B7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0F2-4827-8B5F-6DE4ACE24DE7}"/>
              </c:ext>
            </c:extLst>
          </c:dPt>
          <c:cat>
            <c:strRef>
              <c:f>Sheet4!$X$10:$X$15</c:f>
              <c:strCache>
                <c:ptCount val="5"/>
                <c:pt idx="0">
                  <c:v>Cancelled</c:v>
                </c:pt>
                <c:pt idx="1">
                  <c:v>Complete</c:v>
                </c:pt>
                <c:pt idx="2">
                  <c:v>Processing</c:v>
                </c:pt>
                <c:pt idx="3">
                  <c:v>Returned</c:v>
                </c:pt>
                <c:pt idx="4">
                  <c:v>Shipped</c:v>
                </c:pt>
              </c:strCache>
            </c:strRef>
          </c:cat>
          <c:val>
            <c:numRef>
              <c:f>Sheet4!$Y$10:$Y$15</c:f>
              <c:numCache>
                <c:formatCode>General</c:formatCode>
                <c:ptCount val="5"/>
                <c:pt idx="0">
                  <c:v>18609</c:v>
                </c:pt>
                <c:pt idx="1">
                  <c:v>31354</c:v>
                </c:pt>
                <c:pt idx="2">
                  <c:v>25156</c:v>
                </c:pt>
                <c:pt idx="3">
                  <c:v>12530</c:v>
                </c:pt>
                <c:pt idx="4">
                  <c:v>37577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F2-4827-8B5F-6DE4ACE24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[TheLook_eCommerce_Analysis.xlsx]Sheet4!PivotTable1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CATEGORIES BY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Sheet4!$F$12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Sheet4!$E$13:$E$23</c:f>
              <c:strCache>
                <c:ptCount val="10"/>
                <c:pt idx="0">
                  <c:v>Outerwear &amp; Coats</c:v>
                </c:pt>
                <c:pt idx="1">
                  <c:v>Jeans</c:v>
                </c:pt>
                <c:pt idx="2">
                  <c:v>Sweaters</c:v>
                </c:pt>
                <c:pt idx="3">
                  <c:v>Suits &amp; Sport Coats</c:v>
                </c:pt>
                <c:pt idx="4">
                  <c:v>Fashion Hoodies &amp; Sweatshirts</c:v>
                </c:pt>
                <c:pt idx="5">
                  <c:v>Swim</c:v>
                </c:pt>
                <c:pt idx="6">
                  <c:v>Sleep &amp; Lounge</c:v>
                </c:pt>
                <c:pt idx="7">
                  <c:v>Shorts</c:v>
                </c:pt>
                <c:pt idx="8">
                  <c:v>Tops &amp; Tees</c:v>
                </c:pt>
                <c:pt idx="9">
                  <c:v>Dresses</c:v>
                </c:pt>
              </c:strCache>
            </c:strRef>
          </c:cat>
          <c:val>
            <c:numRef>
              <c:f>Sheet4!$F$13:$F$23</c:f>
              <c:numCache>
                <c:formatCode>\$#,##0.00;\(\$#,##0.00\);\$#,##0.00</c:formatCode>
                <c:ptCount val="10"/>
                <c:pt idx="0">
                  <c:v>1301570.72</c:v>
                </c:pt>
                <c:pt idx="1">
                  <c:v>1253644.21</c:v>
                </c:pt>
                <c:pt idx="2">
                  <c:v>842651.47</c:v>
                </c:pt>
                <c:pt idx="3">
                  <c:v>666767.31000000006</c:v>
                </c:pt>
                <c:pt idx="4">
                  <c:v>649352.81999999995</c:v>
                </c:pt>
                <c:pt idx="5">
                  <c:v>646738.72</c:v>
                </c:pt>
                <c:pt idx="6">
                  <c:v>537392.1</c:v>
                </c:pt>
                <c:pt idx="7">
                  <c:v>512069.48</c:v>
                </c:pt>
                <c:pt idx="8">
                  <c:v>491551.39</c:v>
                </c:pt>
                <c:pt idx="9">
                  <c:v>464416.84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3-4010-B5F8-7BF4996C77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603323007"/>
        <c:axId val="1603323487"/>
      </c:barChart>
      <c:catAx>
        <c:axId val="16033230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323487"/>
        <c:crosses val="autoZero"/>
        <c:auto val="1"/>
        <c:lblAlgn val="ctr"/>
        <c:lblOffset val="100"/>
        <c:noMultiLvlLbl val="0"/>
      </c:catAx>
      <c:valAx>
        <c:axId val="1603323487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;\(\$#,##0.00\);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332300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[TheLook_eCommerce_Analysis.xlsx]Sheet4!PivotTable3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</a:t>
            </a:r>
            <a:r>
              <a:rPr lang="en-US" baseline="0"/>
              <a:t> 10 CATEGORIES BY INVENTORY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Sheet4!$AE$9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Sheet4!$AD$10:$AD$20</c:f>
              <c:strCache>
                <c:ptCount val="10"/>
                <c:pt idx="0">
                  <c:v>Intimates</c:v>
                </c:pt>
                <c:pt idx="1">
                  <c:v>Jeans</c:v>
                </c:pt>
                <c:pt idx="2">
                  <c:v>Tops &amp; Tees</c:v>
                </c:pt>
                <c:pt idx="3">
                  <c:v>Fashion Hoodies &amp; Sweatshirts</c:v>
                </c:pt>
                <c:pt idx="4">
                  <c:v>Swim</c:v>
                </c:pt>
                <c:pt idx="5">
                  <c:v>Sweaters</c:v>
                </c:pt>
                <c:pt idx="6">
                  <c:v>Shorts</c:v>
                </c:pt>
                <c:pt idx="7">
                  <c:v>Sleep &amp; Lounge</c:v>
                </c:pt>
                <c:pt idx="8">
                  <c:v>Accessories</c:v>
                </c:pt>
                <c:pt idx="9">
                  <c:v>Active</c:v>
                </c:pt>
              </c:strCache>
            </c:strRef>
          </c:cat>
          <c:val>
            <c:numRef>
              <c:f>Sheet4!$AE$10:$AE$20</c:f>
              <c:numCache>
                <c:formatCode>General</c:formatCode>
                <c:ptCount val="10"/>
                <c:pt idx="0">
                  <c:v>36353</c:v>
                </c:pt>
                <c:pt idx="1">
                  <c:v>34255</c:v>
                </c:pt>
                <c:pt idx="2">
                  <c:v>32285</c:v>
                </c:pt>
                <c:pt idx="3">
                  <c:v>32155</c:v>
                </c:pt>
                <c:pt idx="4">
                  <c:v>30870</c:v>
                </c:pt>
                <c:pt idx="5">
                  <c:v>30479</c:v>
                </c:pt>
                <c:pt idx="6">
                  <c:v>29697</c:v>
                </c:pt>
                <c:pt idx="7">
                  <c:v>29648</c:v>
                </c:pt>
                <c:pt idx="8">
                  <c:v>26367</c:v>
                </c:pt>
                <c:pt idx="9">
                  <c:v>24651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DD-4221-893D-338590BC7C1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56441887"/>
        <c:axId val="1956442847"/>
      </c:barChart>
      <c:catAx>
        <c:axId val="195644188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442847"/>
        <c:crosses val="autoZero"/>
        <c:auto val="1"/>
        <c:lblAlgn val="ctr"/>
        <c:lblOffset val="100"/>
        <c:noMultiLvlLbl val="0"/>
      </c:catAx>
      <c:valAx>
        <c:axId val="1956442847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441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[TheLook_eCommerce_Analysis.xlsx]Sheet2!PivotTable6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LOW STOCK PRODUCTS SAMPLE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C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C0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Sheet2!$J$7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Sheet2!$I$8:$I$18</c:f>
              <c:strCache>
                <c:ptCount val="10"/>
                <c:pt idx="0">
                  <c:v>WHITE KIMONO DUSTER JACKET LONG STRETCH JERSEY LAGENLOOK - FITS (ONE SIZE) - L XL 1X 2X - U522S LOTUSTRADERS</c:v>
                </c:pt>
                <c:pt idx="1">
                  <c:v>Women's Cold Blooded Sugar Skull Gypsy Tyler Bredeweg Tattoo Zip Up Hoodie Black</c:v>
                </c:pt>
                <c:pt idx="2">
                  <c:v>Weekender Men Marco Polo Travel Short</c:v>
                </c:pt>
                <c:pt idx="3">
                  <c:v>Women's Cotton Rich Knit Lounge Pants - Many Cute Designs Available</c:v>
                </c:pt>
                <c:pt idx="4">
                  <c:v>White French Terry Shorts with Drawstring and Side Pockets</c:v>
                </c:pt>
                <c:pt idx="5">
                  <c:v>Womens Cotton Shiny DÃƒÂ©cor V-neck top and Capri - loungewear/PJ/pajama set - Colors Available</c:v>
                </c:pt>
                <c:pt idx="6">
                  <c:v>Wesc Eddy Jeans - Hf Rinse</c:v>
                </c:pt>
                <c:pt idx="7">
                  <c:v>Women's Cute Bright Kitties Trouser Socks by Foot Traffic</c:v>
                </c:pt>
                <c:pt idx="8">
                  <c:v>Wacoal Women's B-Smooth Bralette</c:v>
                </c:pt>
                <c:pt idx="9">
                  <c:v>Womens Elegant Faux Wrap Slimming V Neck 3/4 Sleeve Dress</c:v>
                </c:pt>
              </c:strCache>
            </c:strRef>
          </c:cat>
          <c:val>
            <c:numRef>
              <c:f>Sheet2!$J$8:$J$18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8C-4965-891B-3432085DC3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95338799"/>
        <c:axId val="395329679"/>
      </c:barChart>
      <c:catAx>
        <c:axId val="39533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5329679"/>
        <c:crosses val="autoZero"/>
        <c:auto val="1"/>
        <c:lblAlgn val="ctr"/>
        <c:lblOffset val="100"/>
        <c:noMultiLvlLbl val="0"/>
      </c:catAx>
      <c:valAx>
        <c:axId val="3953296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5338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INVENTORY</a:t>
            </a:r>
            <a:r>
              <a:rPr lang="en-US" baseline="0"/>
              <a:t> DEMAND FORCAST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841096670145147E-2"/>
          <c:y val="0.10429699985118951"/>
          <c:w val="0.92983474891725493"/>
          <c:h val="0.76891206780970556"/>
        </c:manualLayout>
      </c:layout>
      <c:lineChart>
        <c:grouping val="standard"/>
        <c:varyColors val="0"/>
        <c:ser>
          <c:idx val="0"/>
          <c:order val="0"/>
          <c:tx>
            <c:strRef>
              <c:f>Sheet6!$B$1</c:f>
              <c:strCache>
                <c:ptCount val="1"/>
                <c:pt idx="0">
                  <c:v>Values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Sheet6!$B$2:$B$65</c:f>
              <c:numCache>
                <c:formatCode>General</c:formatCode>
                <c:ptCount val="64"/>
                <c:pt idx="0">
                  <c:v>32</c:v>
                </c:pt>
                <c:pt idx="1">
                  <c:v>53</c:v>
                </c:pt>
                <c:pt idx="2">
                  <c:v>123</c:v>
                </c:pt>
                <c:pt idx="3">
                  <c:v>149</c:v>
                </c:pt>
                <c:pt idx="4">
                  <c:v>252</c:v>
                </c:pt>
                <c:pt idx="5">
                  <c:v>294</c:v>
                </c:pt>
                <c:pt idx="6">
                  <c:v>338</c:v>
                </c:pt>
                <c:pt idx="7">
                  <c:v>339</c:v>
                </c:pt>
                <c:pt idx="8">
                  <c:v>440</c:v>
                </c:pt>
                <c:pt idx="9">
                  <c:v>495</c:v>
                </c:pt>
                <c:pt idx="10">
                  <c:v>482</c:v>
                </c:pt>
                <c:pt idx="11">
                  <c:v>649</c:v>
                </c:pt>
                <c:pt idx="12">
                  <c:v>711</c:v>
                </c:pt>
                <c:pt idx="13">
                  <c:v>718</c:v>
                </c:pt>
                <c:pt idx="14">
                  <c:v>796</c:v>
                </c:pt>
                <c:pt idx="15">
                  <c:v>827</c:v>
                </c:pt>
                <c:pt idx="16">
                  <c:v>955</c:v>
                </c:pt>
                <c:pt idx="17">
                  <c:v>1038</c:v>
                </c:pt>
                <c:pt idx="18">
                  <c:v>1134</c:v>
                </c:pt>
                <c:pt idx="19">
                  <c:v>1093</c:v>
                </c:pt>
                <c:pt idx="20">
                  <c:v>1181</c:v>
                </c:pt>
                <c:pt idx="21">
                  <c:v>1347</c:v>
                </c:pt>
                <c:pt idx="22">
                  <c:v>1331</c:v>
                </c:pt>
                <c:pt idx="23">
                  <c:v>1560</c:v>
                </c:pt>
                <c:pt idx="24">
                  <c:v>1735</c:v>
                </c:pt>
                <c:pt idx="25">
                  <c:v>1436</c:v>
                </c:pt>
                <c:pt idx="26">
                  <c:v>1724</c:v>
                </c:pt>
                <c:pt idx="27">
                  <c:v>1729</c:v>
                </c:pt>
                <c:pt idx="28">
                  <c:v>1924</c:v>
                </c:pt>
                <c:pt idx="29">
                  <c:v>1905</c:v>
                </c:pt>
                <c:pt idx="30">
                  <c:v>1989</c:v>
                </c:pt>
                <c:pt idx="31">
                  <c:v>2200</c:v>
                </c:pt>
                <c:pt idx="32">
                  <c:v>2187</c:v>
                </c:pt>
                <c:pt idx="33">
                  <c:v>2446</c:v>
                </c:pt>
                <c:pt idx="34">
                  <c:v>2428</c:v>
                </c:pt>
                <c:pt idx="35">
                  <c:v>2600</c:v>
                </c:pt>
                <c:pt idx="36">
                  <c:v>2752</c:v>
                </c:pt>
                <c:pt idx="37">
                  <c:v>2478</c:v>
                </c:pt>
                <c:pt idx="38">
                  <c:v>2943</c:v>
                </c:pt>
                <c:pt idx="39">
                  <c:v>2938</c:v>
                </c:pt>
                <c:pt idx="40">
                  <c:v>3386</c:v>
                </c:pt>
                <c:pt idx="41">
                  <c:v>3341</c:v>
                </c:pt>
                <c:pt idx="42">
                  <c:v>3653</c:v>
                </c:pt>
                <c:pt idx="43">
                  <c:v>3920</c:v>
                </c:pt>
                <c:pt idx="44">
                  <c:v>3745</c:v>
                </c:pt>
                <c:pt idx="45">
                  <c:v>4260</c:v>
                </c:pt>
                <c:pt idx="46">
                  <c:v>4330</c:v>
                </c:pt>
                <c:pt idx="47">
                  <c:v>4455</c:v>
                </c:pt>
                <c:pt idx="48">
                  <c:v>4813</c:v>
                </c:pt>
                <c:pt idx="49">
                  <c:v>4530</c:v>
                </c:pt>
                <c:pt idx="50">
                  <c:v>5493</c:v>
                </c:pt>
                <c:pt idx="51">
                  <c:v>5453</c:v>
                </c:pt>
                <c:pt idx="52">
                  <c:v>5926</c:v>
                </c:pt>
                <c:pt idx="53">
                  <c:v>6170</c:v>
                </c:pt>
                <c:pt idx="54">
                  <c:v>6900</c:v>
                </c:pt>
                <c:pt idx="55">
                  <c:v>7320</c:v>
                </c:pt>
                <c:pt idx="56">
                  <c:v>7875</c:v>
                </c:pt>
                <c:pt idx="57">
                  <c:v>8885</c:v>
                </c:pt>
                <c:pt idx="58">
                  <c:v>9850</c:v>
                </c:pt>
                <c:pt idx="59">
                  <c:v>11986</c:v>
                </c:pt>
                <c:pt idx="60">
                  <c:v>13717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4E-463B-890F-639F0CCB0FD1}"/>
            </c:ext>
          </c:extLst>
        </c:ser>
        <c:ser>
          <c:idx val="1"/>
          <c:order val="1"/>
          <c:tx>
            <c:strRef>
              <c:f>Sheet6!$C$1</c:f>
              <c:strCache>
                <c:ptCount val="1"/>
                <c:pt idx="0">
                  <c:v>Forecast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Sheet6!$A$2:$A$65</c:f>
              <c:numCache>
                <c:formatCode>mmm\-yyyy</c:formatCode>
                <c:ptCount val="64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</c:numCache>
            </c:numRef>
          </c:cat>
          <c:val>
            <c:numRef>
              <c:f>Sheet6!$C$2:$C$65</c:f>
              <c:numCache>
                <c:formatCode>General</c:formatCode>
                <c:ptCount val="64"/>
                <c:pt idx="60">
                  <c:v>13717</c:v>
                </c:pt>
                <c:pt idx="61">
                  <c:v>12252.984492979522</c:v>
                </c:pt>
                <c:pt idx="62">
                  <c:v>13578.889592441405</c:v>
                </c:pt>
                <c:pt idx="63">
                  <c:v>14904.794691903287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4E-463B-890F-639F0CCB0FD1}"/>
            </c:ext>
          </c:extLst>
        </c:ser>
        <c:ser>
          <c:idx val="2"/>
          <c:order val="2"/>
          <c:tx>
            <c:strRef>
              <c:f>Sheet6!$D$1</c:f>
              <c:strCache>
                <c:ptCount val="1"/>
                <c:pt idx="0">
                  <c:v>Lower Confidence Bound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Sheet6!$A$2:$A$65</c:f>
              <c:numCache>
                <c:formatCode>mmm\-yyyy</c:formatCode>
                <c:ptCount val="64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</c:numCache>
            </c:numRef>
          </c:cat>
          <c:val>
            <c:numRef>
              <c:f>Sheet6!$D$2:$D$65</c:f>
              <c:numCache>
                <c:formatCode>General</c:formatCode>
                <c:ptCount val="64"/>
                <c:pt idx="60" formatCode="0.00">
                  <c:v>13717</c:v>
                </c:pt>
                <c:pt idx="61" formatCode="0.00">
                  <c:v>11041.765212558048</c:v>
                </c:pt>
                <c:pt idx="62" formatCode="0.00">
                  <c:v>12343.920411745246</c:v>
                </c:pt>
                <c:pt idx="63" formatCode="0.00">
                  <c:v>13618.159943430579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4E-463B-890F-639F0CCB0FD1}"/>
            </c:ext>
          </c:extLst>
        </c:ser>
        <c:ser>
          <c:idx val="3"/>
          <c:order val="3"/>
          <c:tx>
            <c:strRef>
              <c:f>Sheet6!$E$1</c:f>
              <c:strCache>
                <c:ptCount val="1"/>
                <c:pt idx="0">
                  <c:v>Upper Confidence Bound</c:v>
                </c:pt>
              </c:strCache>
            </c:strRef>
          </c:tx>
          <c:spPr>
            <a:ln w="12700" cap="rnd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Sheet6!$A$2:$A$65</c:f>
              <c:numCache>
                <c:formatCode>mmm\-yyyy</c:formatCode>
                <c:ptCount val="64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  <c:pt idx="60">
                  <c:v>45292</c:v>
                </c:pt>
                <c:pt idx="61">
                  <c:v>45323</c:v>
                </c:pt>
                <c:pt idx="62">
                  <c:v>45352</c:v>
                </c:pt>
                <c:pt idx="63">
                  <c:v>45383</c:v>
                </c:pt>
              </c:numCache>
            </c:numRef>
          </c:cat>
          <c:val>
            <c:numRef>
              <c:f>Sheet6!$E$2:$E$65</c:f>
              <c:numCache>
                <c:formatCode>General</c:formatCode>
                <c:ptCount val="64"/>
                <c:pt idx="60" formatCode="0.00">
                  <c:v>13717</c:v>
                </c:pt>
                <c:pt idx="61" formatCode="0.00">
                  <c:v>13464.203773400995</c:v>
                </c:pt>
                <c:pt idx="62" formatCode="0.00">
                  <c:v>14813.858773137563</c:v>
                </c:pt>
                <c:pt idx="63" formatCode="0.00">
                  <c:v>16191.429440375996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4E-463B-890F-639F0CCB0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56480287"/>
        <c:axId val="1956480767"/>
      </c:lineChart>
      <c:catAx>
        <c:axId val="1956480287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480767"/>
        <c:crosses val="autoZero"/>
        <c:auto val="1"/>
        <c:lblAlgn val="ctr"/>
        <c:lblOffset val="100"/>
        <c:noMultiLvlLbl val="0"/>
      </c:catAx>
      <c:valAx>
        <c:axId val="1956480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4802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F496-94B4-17FB-9073-BDF3A7409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EA95B-D3A4-30D6-0373-8E919EE24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54180-0407-A902-78A8-A6B4ADBA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2F2FA-1307-2002-5E6B-9466B054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5937C-F0B9-E2C2-2814-653BB0EC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24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4E8E-6CC9-8CCE-050F-72F19548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E94FB-90B7-3A5D-9D25-6A744FC81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71FF8-9947-CF75-9AEA-408CB6A2A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5F327-32D3-9B8A-C928-77D1EDE1B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393A8-924D-CC61-5962-32136BF9B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3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0AE7D-3454-A204-209D-4FB2BB8EF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F5B80-4931-FFCB-6073-6EE003287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1502C-1F33-A7C6-C2BF-F535FB4A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275A9-815F-8A34-7EF9-3017354E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E898-CFD2-30FE-E0BB-00AB66D4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5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EE9A-1D28-6E58-C4A8-8962562C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E143A-801A-EA56-7493-B90F712EB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1D2E7-F938-6EA4-F665-25C1A1099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FA8FC-F97E-829C-F907-1F2FACC4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3A9CD-7928-B33E-7A16-F7DC04C9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EC101-0571-348D-51D5-57F863A8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39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97F2-1FEA-83F2-2916-E4E823658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77FE-498A-0A35-A948-FC2CD252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B409E-9866-7B70-1290-903D62370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E64E2-72BF-5024-5F8B-06ECA427B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65814-5161-2E03-6AC5-40AC05B5F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5CFF3-F10A-A815-669E-D59A77AA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E3B9B-FEE2-9C52-D137-41156CD0C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5E27B-E989-94D4-F871-E63D998F7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7F61-80FC-6279-3763-36637B0C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DE9A6-F040-3B69-384A-934329855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B21B7-C817-C515-22F5-861D3E74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9F971-0E62-971A-664B-629B401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7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97367-02F7-0449-F818-E44F17FD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7F4CC-599F-0793-D6DD-EA6373E5D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C8C9D-2E2E-B099-D6B4-FE0E04FA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8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A80E-1F50-1AC1-8895-F3CB2114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BF48E-51F2-67F3-4731-F140CAA9C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0AAAC-E277-7974-9266-E9E30DF4B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B2788-0AFA-0C2D-E87B-05972B1E5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4394D-BAA4-1F74-C994-A8214CDB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0B285-5C6C-5448-D2C7-8BAD5AF7C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CD19-DD03-3B7A-E102-72B17FE2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BCD41C-AA05-F827-2556-630EEF81C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A1F2-2D01-B3C9-5AFF-64AE6624C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85CB0-F86E-F578-BBBA-00A97676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14362-D8F6-009C-B21B-07E8C0CE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60150-980B-88AD-5673-D03040A53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4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A3AC-65D3-29A7-4F27-5A2EAEE3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CE297-B785-1834-7C05-BB31B156D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BCC08-FA3F-8D3C-30AE-1ADCE3E7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06D62-D9EE-019A-EC48-8DE4416A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557B6-293F-0DE5-571A-6EC4517A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0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9DEFD-5C19-CCDF-F42E-25062B21B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CC540-EF67-AFD6-77D7-783E0D097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0DA37-085B-CF66-2F1F-424B5DB24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9CA17-6E0F-739F-2E72-CEE8DA98B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0A135-B9FE-9B12-045B-0AE47BE8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5F70D-3A2A-79C0-0EE2-AC261CE80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94040-7FC6-349A-65E2-C38E68465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31457-A847-7174-3B45-82BFA8644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023EB-F6A1-43E6-B316-EC5B0A4A401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9DC29-7451-08B8-B0F8-D4D00AD2D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9B37-BA32-B527-67AE-19D74AA52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514D7-9404-41AD-888F-4A89EA759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85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E5F5082-F716-3FF9-2F2E-4706A3A6E462}"/>
              </a:ext>
            </a:extLst>
          </p:cNvPr>
          <p:cNvSpPr/>
          <p:nvPr/>
        </p:nvSpPr>
        <p:spPr>
          <a:xfrm>
            <a:off x="2936240" y="1950720"/>
            <a:ext cx="8442960" cy="313944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7323DE-EC29-6435-FAB8-7D20209809F0}"/>
              </a:ext>
            </a:extLst>
          </p:cNvPr>
          <p:cNvSpPr/>
          <p:nvPr/>
        </p:nvSpPr>
        <p:spPr>
          <a:xfrm>
            <a:off x="0" y="0"/>
            <a:ext cx="1986741" cy="6964218"/>
          </a:xfrm>
          <a:prstGeom prst="rect">
            <a:avLst/>
          </a:prstGeom>
          <a:solidFill>
            <a:srgbClr val="405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965C9-F900-B2BB-BB84-689ABD91CD9C}"/>
              </a:ext>
            </a:extLst>
          </p:cNvPr>
          <p:cNvSpPr txBox="1"/>
          <p:nvPr/>
        </p:nvSpPr>
        <p:spPr>
          <a:xfrm>
            <a:off x="165328" y="661033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FASHION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STORE</a:t>
            </a:r>
          </a:p>
        </p:txBody>
      </p:sp>
      <p:pic>
        <p:nvPicPr>
          <p:cNvPr id="5" name="Graphic 4" descr="Clothes hanger">
            <a:extLst>
              <a:ext uri="{FF2B5EF4-FFF2-40B4-BE49-F238E27FC236}">
                <a16:creationId xmlns:a16="http://schemas.microsoft.com/office/drawing/2014/main" id="{DF020A1A-2F13-B5A4-6F99-76FBFE76A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970" y="21103"/>
            <a:ext cx="812800" cy="812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2E6EF1-2E5B-0A18-78E1-5955B57CEE1A}"/>
              </a:ext>
            </a:extLst>
          </p:cNvPr>
          <p:cNvSpPr/>
          <p:nvPr/>
        </p:nvSpPr>
        <p:spPr>
          <a:xfrm>
            <a:off x="95594" y="4470148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SALES BY CATEGORY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27219-4C57-E7FA-843E-4A4568BEB92A}"/>
              </a:ext>
            </a:extLst>
          </p:cNvPr>
          <p:cNvSpPr/>
          <p:nvPr/>
        </p:nvSpPr>
        <p:spPr>
          <a:xfrm>
            <a:off x="95594" y="5270959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6A2251-E3F7-7C06-8003-3972967C73A6}"/>
              </a:ext>
            </a:extLst>
          </p:cNvPr>
          <p:cNvSpPr/>
          <p:nvPr/>
        </p:nvSpPr>
        <p:spPr>
          <a:xfrm>
            <a:off x="95594" y="6071771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FORECAST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E1E108-4F57-D4F8-A18B-CE14F141656C}"/>
              </a:ext>
            </a:extLst>
          </p:cNvPr>
          <p:cNvSpPr/>
          <p:nvPr/>
        </p:nvSpPr>
        <p:spPr>
          <a:xfrm>
            <a:off x="95594" y="3669337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ORDERS BY STATUS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21F63E-1876-3EB9-F27E-1B1D3FC58698}"/>
              </a:ext>
            </a:extLst>
          </p:cNvPr>
          <p:cNvSpPr/>
          <p:nvPr/>
        </p:nvSpPr>
        <p:spPr>
          <a:xfrm>
            <a:off x="95594" y="2067715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7368A1-DDC9-05AF-9968-897DFAD058CC}"/>
              </a:ext>
            </a:extLst>
          </p:cNvPr>
          <p:cNvSpPr/>
          <p:nvPr/>
        </p:nvSpPr>
        <p:spPr>
          <a:xfrm>
            <a:off x="95594" y="1266904"/>
            <a:ext cx="1828800" cy="765126"/>
          </a:xfrm>
          <a:prstGeom prst="roundRect">
            <a:avLst/>
          </a:prstGeom>
          <a:solidFill>
            <a:srgbClr val="F7F7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31"/>
                </a:solidFill>
              </a:rPr>
              <a:t>HOME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5F6FE0-5DCC-B968-ADBF-A97D177F3C96}"/>
              </a:ext>
            </a:extLst>
          </p:cNvPr>
          <p:cNvSpPr/>
          <p:nvPr/>
        </p:nvSpPr>
        <p:spPr>
          <a:xfrm>
            <a:off x="95594" y="2868526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MARKETING TREND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DEDE99-0A07-5FBE-BB44-8D3449BCF066}"/>
              </a:ext>
            </a:extLst>
          </p:cNvPr>
          <p:cNvSpPr txBox="1"/>
          <p:nvPr/>
        </p:nvSpPr>
        <p:spPr>
          <a:xfrm>
            <a:off x="2712720" y="661816"/>
            <a:ext cx="88188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405331"/>
                </a:solidFill>
              </a:rPr>
              <a:t>FASHON STORE 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Sales &amp; Inventory Analytics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141BA0-78EB-6591-158E-0CD18730C203}"/>
              </a:ext>
            </a:extLst>
          </p:cNvPr>
          <p:cNvSpPr txBox="1"/>
          <p:nvPr/>
        </p:nvSpPr>
        <p:spPr>
          <a:xfrm>
            <a:off x="4201160" y="1400589"/>
            <a:ext cx="584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66666"/>
                </a:solidFill>
              </a:rPr>
              <a:t>An interactive analysis of sales, orders, products, customers, and inventory performance</a:t>
            </a:r>
            <a:r>
              <a:rPr lang="en-US" dirty="0"/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A3EE7C-8847-91A2-9AD7-CF8647E7A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729" b="95625" l="5000" r="94922">
                        <a14:foregroundMark x1="17344" y1="12188" x2="12891" y2="17500"/>
                        <a14:foregroundMark x1="12891" y1="17500" x2="9844" y2="24271"/>
                        <a14:foregroundMark x1="9844" y1="24271" x2="5547" y2="68438"/>
                        <a14:foregroundMark x1="5547" y1="68438" x2="9688" y2="80521"/>
                        <a14:foregroundMark x1="9688" y1="80521" x2="9297" y2="92604"/>
                        <a14:foregroundMark x1="9297" y1="92604" x2="9609" y2="84063"/>
                        <a14:foregroundMark x1="9609" y1="84063" x2="8359" y2="90833"/>
                        <a14:foregroundMark x1="8359" y1="90833" x2="14141" y2="90833"/>
                        <a14:foregroundMark x1="14141" y1="90833" x2="20625" y2="93646"/>
                        <a14:foregroundMark x1="20625" y1="93646" x2="26250" y2="92813"/>
                        <a14:foregroundMark x1="26250" y1="92813" x2="32813" y2="93750"/>
                        <a14:foregroundMark x1="32813" y1="93750" x2="37891" y2="91875"/>
                        <a14:foregroundMark x1="37891" y1="91875" x2="35234" y2="84271"/>
                        <a14:foregroundMark x1="35234" y1="84271" x2="35156" y2="74583"/>
                        <a14:foregroundMark x1="35156" y1="74583" x2="30078" y2="77396"/>
                        <a14:foregroundMark x1="30078" y1="77396" x2="28906" y2="88229"/>
                        <a14:foregroundMark x1="28906" y1="88229" x2="22969" y2="90833"/>
                        <a14:foregroundMark x1="22969" y1="90833" x2="14141" y2="90521"/>
                        <a14:foregroundMark x1="7109" y1="42500" x2="5703" y2="49271"/>
                        <a14:foregroundMark x1="5703" y1="49271" x2="5078" y2="67396"/>
                        <a14:foregroundMark x1="5078" y1="67396" x2="10703" y2="69167"/>
                        <a14:foregroundMark x1="10703" y1="69167" x2="11328" y2="70104"/>
                        <a14:foregroundMark x1="11328" y1="70104" x2="41563" y2="82917"/>
                        <a14:foregroundMark x1="41563" y1="82917" x2="49297" y2="88438"/>
                        <a14:foregroundMark x1="49297" y1="88438" x2="27578" y2="80625"/>
                        <a14:foregroundMark x1="58984" y1="89583" x2="41719" y2="88646"/>
                        <a14:foregroundMark x1="41719" y1="88646" x2="44609" y2="94583"/>
                        <a14:foregroundMark x1="44609" y1="94583" x2="57656" y2="95729"/>
                        <a14:foregroundMark x1="57656" y1="95729" x2="59688" y2="89375"/>
                        <a14:foregroundMark x1="62656" y1="71146" x2="68438" y2="72604"/>
                        <a14:foregroundMark x1="68438" y1="72604" x2="72266" y2="77500"/>
                        <a14:foregroundMark x1="72266" y1="77500" x2="62187" y2="83542"/>
                        <a14:foregroundMark x1="62187" y1="83542" x2="61719" y2="91667"/>
                        <a14:foregroundMark x1="61719" y1="91667" x2="72969" y2="95417"/>
                        <a14:foregroundMark x1="72969" y1="95417" x2="84063" y2="90833"/>
                        <a14:foregroundMark x1="84063" y1="90833" x2="86094" y2="81354"/>
                        <a14:foregroundMark x1="86094" y1="81354" x2="86094" y2="74063"/>
                        <a14:foregroundMark x1="86094" y1="74063" x2="91797" y2="73021"/>
                        <a14:foregroundMark x1="91797" y1="73021" x2="94766" y2="66146"/>
                        <a14:foregroundMark x1="94766" y1="66146" x2="95391" y2="46667"/>
                        <a14:foregroundMark x1="95391" y1="46667" x2="89609" y2="5833"/>
                        <a14:foregroundMark x1="89609" y1="5833" x2="87188" y2="13646"/>
                        <a14:foregroundMark x1="93672" y1="71667" x2="94922" y2="55417"/>
                        <a14:foregroundMark x1="94922" y1="55417" x2="92656" y2="33958"/>
                        <a14:foregroundMark x1="69531" y1="71250" x2="71875" y2="39375"/>
                        <a14:foregroundMark x1="71875" y1="39375" x2="67188" y2="17813"/>
                        <a14:foregroundMark x1="67188" y1="17813" x2="63359" y2="11979"/>
                        <a14:foregroundMark x1="63359" y1="11979" x2="59531" y2="17500"/>
                        <a14:foregroundMark x1="59531" y1="17500" x2="59219" y2="19375"/>
                        <a14:foregroundMark x1="74453" y1="6354" x2="14922" y2="7083"/>
                        <a14:foregroundMark x1="15859" y1="6354" x2="15000" y2="63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665" y="1828800"/>
            <a:ext cx="4589546" cy="34421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98CBAF-729E-D159-1DF5-C785F45E022B}"/>
              </a:ext>
            </a:extLst>
          </p:cNvPr>
          <p:cNvSpPr txBox="1"/>
          <p:nvPr/>
        </p:nvSpPr>
        <p:spPr>
          <a:xfrm>
            <a:off x="2936240" y="5360637"/>
            <a:ext cx="8442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666666"/>
                </a:solidFill>
              </a:rPr>
              <a:t>Explore sales, customer behavior, and inventory performance across the dashboard</a:t>
            </a:r>
            <a:r>
              <a:rPr lang="en-US" sz="1100" dirty="0"/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90051A3-4C54-8A91-9221-CF6A21A448D4}"/>
              </a:ext>
            </a:extLst>
          </p:cNvPr>
          <p:cNvSpPr/>
          <p:nvPr/>
        </p:nvSpPr>
        <p:spPr>
          <a:xfrm>
            <a:off x="6096000" y="5783774"/>
            <a:ext cx="1889760" cy="670560"/>
          </a:xfrm>
          <a:prstGeom prst="roundRect">
            <a:avLst/>
          </a:prstGeom>
          <a:solidFill>
            <a:srgbClr val="4053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VIEW DASHBORD</a:t>
            </a:r>
          </a:p>
        </p:txBody>
      </p:sp>
    </p:spTree>
    <p:extLst>
      <p:ext uri="{BB962C8B-B14F-4D97-AF65-F5344CB8AC3E}">
        <p14:creationId xmlns:p14="http://schemas.microsoft.com/office/powerpoint/2010/main" val="196274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C7CD7-01A1-4200-E29E-02C0598EA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B8C0E1-91A1-F36F-014C-11B6AAE1ACDB}"/>
              </a:ext>
            </a:extLst>
          </p:cNvPr>
          <p:cNvSpPr/>
          <p:nvPr/>
        </p:nvSpPr>
        <p:spPr>
          <a:xfrm>
            <a:off x="0" y="0"/>
            <a:ext cx="1986741" cy="6964218"/>
          </a:xfrm>
          <a:prstGeom prst="rect">
            <a:avLst/>
          </a:prstGeom>
          <a:solidFill>
            <a:srgbClr val="405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C79F0-E430-E156-794D-F1B11CFD4761}"/>
              </a:ext>
            </a:extLst>
          </p:cNvPr>
          <p:cNvSpPr txBox="1"/>
          <p:nvPr/>
        </p:nvSpPr>
        <p:spPr>
          <a:xfrm>
            <a:off x="165328" y="661033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FASHION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STORE</a:t>
            </a:r>
          </a:p>
        </p:txBody>
      </p:sp>
      <p:pic>
        <p:nvPicPr>
          <p:cNvPr id="5" name="Graphic 4" descr="Clothes hanger">
            <a:extLst>
              <a:ext uri="{FF2B5EF4-FFF2-40B4-BE49-F238E27FC236}">
                <a16:creationId xmlns:a16="http://schemas.microsoft.com/office/drawing/2014/main" id="{2154C8FF-AF36-97BD-248F-34D992A91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970" y="21103"/>
            <a:ext cx="812800" cy="812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5CB2F8-916C-7383-27B1-78D8774FC9D3}"/>
              </a:ext>
            </a:extLst>
          </p:cNvPr>
          <p:cNvSpPr/>
          <p:nvPr/>
        </p:nvSpPr>
        <p:spPr>
          <a:xfrm>
            <a:off x="95594" y="4470148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SALES BY CATEGORY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081327-DE80-9E39-6E97-EDE392582F12}"/>
              </a:ext>
            </a:extLst>
          </p:cNvPr>
          <p:cNvSpPr/>
          <p:nvPr/>
        </p:nvSpPr>
        <p:spPr>
          <a:xfrm>
            <a:off x="95594" y="5270959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6AE3B7-2FB9-F5BA-5849-A521884A854F}"/>
              </a:ext>
            </a:extLst>
          </p:cNvPr>
          <p:cNvSpPr/>
          <p:nvPr/>
        </p:nvSpPr>
        <p:spPr>
          <a:xfrm>
            <a:off x="95594" y="6071771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FORECAST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BD4AAC-5A7C-1C2E-4420-79420D6434CF}"/>
              </a:ext>
            </a:extLst>
          </p:cNvPr>
          <p:cNvSpPr/>
          <p:nvPr/>
        </p:nvSpPr>
        <p:spPr>
          <a:xfrm>
            <a:off x="95594" y="3669337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ORDERS BY STATUS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B4CEBA-6E18-5AB4-3484-C6643633F40B}"/>
              </a:ext>
            </a:extLst>
          </p:cNvPr>
          <p:cNvSpPr/>
          <p:nvPr/>
        </p:nvSpPr>
        <p:spPr>
          <a:xfrm>
            <a:off x="95594" y="2067715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FF72B9-25B3-8A6B-3149-D5DC65C55408}"/>
              </a:ext>
            </a:extLst>
          </p:cNvPr>
          <p:cNvSpPr/>
          <p:nvPr/>
        </p:nvSpPr>
        <p:spPr>
          <a:xfrm>
            <a:off x="95594" y="1266904"/>
            <a:ext cx="1828800" cy="765126"/>
          </a:xfrm>
          <a:prstGeom prst="roundRect">
            <a:avLst/>
          </a:prstGeom>
          <a:solidFill>
            <a:srgbClr val="F7F7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31"/>
                </a:solidFill>
              </a:rPr>
              <a:t>OVERVIEW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F2A9AB-2ABE-BE46-7D85-5B65E4434761}"/>
              </a:ext>
            </a:extLst>
          </p:cNvPr>
          <p:cNvSpPr/>
          <p:nvPr/>
        </p:nvSpPr>
        <p:spPr>
          <a:xfrm>
            <a:off x="95594" y="2868526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MARKETING TREND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C3789-5BF7-5A9C-F2D8-DBC19FE92846}"/>
              </a:ext>
            </a:extLst>
          </p:cNvPr>
          <p:cNvSpPr txBox="1"/>
          <p:nvPr/>
        </p:nvSpPr>
        <p:spPr>
          <a:xfrm>
            <a:off x="2743200" y="137813"/>
            <a:ext cx="263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39C73A-9FBB-979B-3669-008FFD7D00EE}"/>
              </a:ext>
            </a:extLst>
          </p:cNvPr>
          <p:cNvSpPr txBox="1"/>
          <p:nvPr/>
        </p:nvSpPr>
        <p:spPr>
          <a:xfrm>
            <a:off x="2408383" y="622477"/>
            <a:ext cx="4643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</a:rPr>
              <a:t>A complete summary of sales, orders, profit, customers, and store performance.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2D2198-5AD9-DC3B-A869-8E7B86268D0D}"/>
              </a:ext>
            </a:extLst>
          </p:cNvPr>
          <p:cNvSpPr/>
          <p:nvPr/>
        </p:nvSpPr>
        <p:spPr>
          <a:xfrm>
            <a:off x="289560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TOTAL SALES </a:t>
            </a:r>
          </a:p>
          <a:p>
            <a:pPr algn="ctr"/>
            <a:r>
              <a:rPr lang="en-US" sz="1400" b="1" dirty="0">
                <a:solidFill>
                  <a:srgbClr val="405331"/>
                </a:solidFill>
              </a:rPr>
              <a:t>$10,827,118.90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4D1BB5-7EE0-25F4-2667-A24A1B574ED0}"/>
              </a:ext>
            </a:extLst>
          </p:cNvPr>
          <p:cNvSpPr/>
          <p:nvPr/>
        </p:nvSpPr>
        <p:spPr>
          <a:xfrm>
            <a:off x="618744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TOTAL PROFIT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$5,618,763.61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EC688B-1950-1026-441F-7D02B59129F5}"/>
              </a:ext>
            </a:extLst>
          </p:cNvPr>
          <p:cNvSpPr/>
          <p:nvPr/>
        </p:nvSpPr>
        <p:spPr>
          <a:xfrm>
            <a:off x="783336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PROFIT MARGIN 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51.90%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76CB6A-950A-1D0C-AB3C-C6374B161789}"/>
              </a:ext>
            </a:extLst>
          </p:cNvPr>
          <p:cNvSpPr/>
          <p:nvPr/>
        </p:nvSpPr>
        <p:spPr>
          <a:xfrm>
            <a:off x="454152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TOTAL ORDERS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125,226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B6BEC2-504D-F8D4-FD59-F0A5E0ED4347}"/>
              </a:ext>
            </a:extLst>
          </p:cNvPr>
          <p:cNvSpPr/>
          <p:nvPr/>
        </p:nvSpPr>
        <p:spPr>
          <a:xfrm>
            <a:off x="947928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SALES PER ORDER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$86.46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F7DE8D-4068-9D5C-8461-94D757E886AC}"/>
              </a:ext>
            </a:extLst>
          </p:cNvPr>
          <p:cNvSpPr/>
          <p:nvPr/>
        </p:nvSpPr>
        <p:spPr>
          <a:xfrm>
            <a:off x="2521757" y="3429000"/>
            <a:ext cx="2771603" cy="1132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Top Category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Outwear &amp; Coats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68BC50-4F31-5861-65F6-9D086522A376}"/>
              </a:ext>
            </a:extLst>
          </p:cNvPr>
          <p:cNvSpPr/>
          <p:nvPr/>
        </p:nvSpPr>
        <p:spPr>
          <a:xfrm>
            <a:off x="5843039" y="3429000"/>
            <a:ext cx="2771603" cy="1132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Best Selling Product 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The North Face Apex Bionic Jacket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613DE5B-A858-2DE8-FC68-E745B6164D12}"/>
              </a:ext>
            </a:extLst>
          </p:cNvPr>
          <p:cNvSpPr/>
          <p:nvPr/>
        </p:nvSpPr>
        <p:spPr>
          <a:xfrm>
            <a:off x="9164320" y="3429000"/>
            <a:ext cx="2771603" cy="1132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Top Distribution Center 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Houston TX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D9ACE5-BB65-6B3D-629C-5C21D42FCA25}"/>
              </a:ext>
            </a:extLst>
          </p:cNvPr>
          <p:cNvSpPr txBox="1"/>
          <p:nvPr/>
        </p:nvSpPr>
        <p:spPr>
          <a:xfrm>
            <a:off x="5699760" y="5086293"/>
            <a:ext cx="460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66666"/>
                </a:solidFill>
              </a:rPr>
              <a:t>Quick snapshot of overall business performance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00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0080A-E013-301B-DF0B-5CB122FE1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3E6CD0-C33C-CBE8-48D2-83BDB2EF69AE}"/>
              </a:ext>
            </a:extLst>
          </p:cNvPr>
          <p:cNvSpPr/>
          <p:nvPr/>
        </p:nvSpPr>
        <p:spPr>
          <a:xfrm>
            <a:off x="-27478" y="0"/>
            <a:ext cx="1986741" cy="6964218"/>
          </a:xfrm>
          <a:prstGeom prst="rect">
            <a:avLst/>
          </a:prstGeom>
          <a:solidFill>
            <a:srgbClr val="405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88445-A861-F351-B1DC-0A9B30692017}"/>
              </a:ext>
            </a:extLst>
          </p:cNvPr>
          <p:cNvSpPr txBox="1"/>
          <p:nvPr/>
        </p:nvSpPr>
        <p:spPr>
          <a:xfrm>
            <a:off x="165328" y="661033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FASHION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STORE</a:t>
            </a:r>
          </a:p>
        </p:txBody>
      </p:sp>
      <p:pic>
        <p:nvPicPr>
          <p:cNvPr id="5" name="Graphic 4" descr="Clothes hanger">
            <a:extLst>
              <a:ext uri="{FF2B5EF4-FFF2-40B4-BE49-F238E27FC236}">
                <a16:creationId xmlns:a16="http://schemas.microsoft.com/office/drawing/2014/main" id="{BF3E4B5F-3C28-E664-4A64-98C8F3993D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970" y="21103"/>
            <a:ext cx="812800" cy="812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7FD9C1-413C-D817-D94C-D386F1E12337}"/>
              </a:ext>
            </a:extLst>
          </p:cNvPr>
          <p:cNvSpPr/>
          <p:nvPr/>
        </p:nvSpPr>
        <p:spPr>
          <a:xfrm>
            <a:off x="95594" y="4470148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SALES BY CATEGORY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388C66-2470-5633-EF69-C583B3281886}"/>
              </a:ext>
            </a:extLst>
          </p:cNvPr>
          <p:cNvSpPr/>
          <p:nvPr/>
        </p:nvSpPr>
        <p:spPr>
          <a:xfrm>
            <a:off x="95594" y="5270959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E13941-8897-68C5-A557-94E80DD3E0EF}"/>
              </a:ext>
            </a:extLst>
          </p:cNvPr>
          <p:cNvSpPr/>
          <p:nvPr/>
        </p:nvSpPr>
        <p:spPr>
          <a:xfrm>
            <a:off x="95594" y="6071771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FORECAST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CB3618-6C02-6779-F1F1-C0746D28EF64}"/>
              </a:ext>
            </a:extLst>
          </p:cNvPr>
          <p:cNvSpPr/>
          <p:nvPr/>
        </p:nvSpPr>
        <p:spPr>
          <a:xfrm>
            <a:off x="95594" y="3669337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ORDERS BY STATUS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967B61-1928-1E4B-DDE7-C8E455074627}"/>
              </a:ext>
            </a:extLst>
          </p:cNvPr>
          <p:cNvSpPr/>
          <p:nvPr/>
        </p:nvSpPr>
        <p:spPr>
          <a:xfrm>
            <a:off x="95594" y="2067715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9885A5-1A38-DF18-0818-8772D960615C}"/>
              </a:ext>
            </a:extLst>
          </p:cNvPr>
          <p:cNvSpPr/>
          <p:nvPr/>
        </p:nvSpPr>
        <p:spPr>
          <a:xfrm>
            <a:off x="95594" y="1266904"/>
            <a:ext cx="1828800" cy="765126"/>
          </a:xfrm>
          <a:prstGeom prst="roundRect">
            <a:avLst/>
          </a:prstGeom>
          <a:solidFill>
            <a:srgbClr val="F7F7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31"/>
                </a:solidFill>
              </a:rPr>
              <a:t>MARKETING TREND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D8EED6-E271-67BA-FE3A-32F0DD4DAF93}"/>
              </a:ext>
            </a:extLst>
          </p:cNvPr>
          <p:cNvSpPr/>
          <p:nvPr/>
        </p:nvSpPr>
        <p:spPr>
          <a:xfrm>
            <a:off x="95594" y="2868526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C8C3D-2483-FD93-4BBE-FB15C566C9E7}"/>
              </a:ext>
            </a:extLst>
          </p:cNvPr>
          <p:cNvSpPr txBox="1"/>
          <p:nvPr/>
        </p:nvSpPr>
        <p:spPr>
          <a:xfrm>
            <a:off x="2743200" y="137813"/>
            <a:ext cx="3444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MARKETING TREND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7C107-31D1-2E8E-643E-7DAB0DCEB850}"/>
              </a:ext>
            </a:extLst>
          </p:cNvPr>
          <p:cNvSpPr txBox="1"/>
          <p:nvPr/>
        </p:nvSpPr>
        <p:spPr>
          <a:xfrm>
            <a:off x="2408383" y="622477"/>
            <a:ext cx="4643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 analysis of sales performance and customer activity over time.</a:t>
            </a:r>
            <a:endParaRPr lang="en-US" sz="1100" dirty="0">
              <a:solidFill>
                <a:srgbClr val="666666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1848EDA-3E8D-9313-BC88-407BD25D7F28}"/>
              </a:ext>
            </a:extLst>
          </p:cNvPr>
          <p:cNvSpPr/>
          <p:nvPr/>
        </p:nvSpPr>
        <p:spPr>
          <a:xfrm>
            <a:off x="3980873" y="1266904"/>
            <a:ext cx="6687127" cy="39446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D4D7AACE-F4B6-D0E6-DEB0-E81924D47C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548235"/>
              </p:ext>
            </p:extLst>
          </p:nvPr>
        </p:nvGraphicFramePr>
        <p:xfrm>
          <a:off x="4174836" y="1266904"/>
          <a:ext cx="6326909" cy="3859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AFBCE8-43E7-8838-EB47-1A5A546ED1C8}"/>
              </a:ext>
            </a:extLst>
          </p:cNvPr>
          <p:cNvSpPr/>
          <p:nvPr/>
        </p:nvSpPr>
        <p:spPr>
          <a:xfrm>
            <a:off x="3815543" y="5745016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405331"/>
                </a:solidFill>
              </a:rPr>
              <a:t>PEAK SALES MONTH</a:t>
            </a:r>
          </a:p>
          <a:p>
            <a:pPr algn="ctr"/>
            <a:endParaRPr lang="en-US" sz="1600" b="1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January</a:t>
            </a:r>
            <a:r>
              <a:rPr lang="ar-SA" sz="1600" b="1" dirty="0">
                <a:solidFill>
                  <a:srgbClr val="405331"/>
                </a:solidFill>
              </a:rPr>
              <a:t> </a:t>
            </a:r>
            <a:r>
              <a:rPr lang="en-US" sz="1600" b="1" dirty="0">
                <a:solidFill>
                  <a:srgbClr val="405331"/>
                </a:solidFill>
              </a:rPr>
              <a:t>2024 $826,763.25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5ACB84-014C-7669-BF72-F4964E11FEB5}"/>
              </a:ext>
            </a:extLst>
          </p:cNvPr>
          <p:cNvSpPr/>
          <p:nvPr/>
        </p:nvSpPr>
        <p:spPr>
          <a:xfrm>
            <a:off x="5842925" y="5745016"/>
            <a:ext cx="1828800" cy="9144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YOY SALES GROWTH</a:t>
            </a:r>
          </a:p>
          <a:p>
            <a:pPr algn="ctr"/>
            <a:endParaRPr lang="en-US" sz="1600" b="1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187.64%</a:t>
            </a:r>
          </a:p>
        </p:txBody>
      </p:sp>
    </p:spTree>
    <p:extLst>
      <p:ext uri="{BB962C8B-B14F-4D97-AF65-F5344CB8AC3E}">
        <p14:creationId xmlns:p14="http://schemas.microsoft.com/office/powerpoint/2010/main" val="4061122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B24C0-F3F9-605E-C846-51293CB9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3BE870-415C-850A-068D-BA7C676EEB9F}"/>
              </a:ext>
            </a:extLst>
          </p:cNvPr>
          <p:cNvSpPr/>
          <p:nvPr/>
        </p:nvSpPr>
        <p:spPr>
          <a:xfrm>
            <a:off x="0" y="0"/>
            <a:ext cx="1986741" cy="6964218"/>
          </a:xfrm>
          <a:prstGeom prst="rect">
            <a:avLst/>
          </a:prstGeom>
          <a:solidFill>
            <a:srgbClr val="405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3274B5-1EF8-E82A-64B4-BC778C9A0DC7}"/>
              </a:ext>
            </a:extLst>
          </p:cNvPr>
          <p:cNvSpPr txBox="1"/>
          <p:nvPr/>
        </p:nvSpPr>
        <p:spPr>
          <a:xfrm>
            <a:off x="165328" y="661033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FASHION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STORE</a:t>
            </a:r>
          </a:p>
        </p:txBody>
      </p:sp>
      <p:pic>
        <p:nvPicPr>
          <p:cNvPr id="5" name="Graphic 4" descr="Clothes hanger">
            <a:extLst>
              <a:ext uri="{FF2B5EF4-FFF2-40B4-BE49-F238E27FC236}">
                <a16:creationId xmlns:a16="http://schemas.microsoft.com/office/drawing/2014/main" id="{B5BC2C37-8ECE-558D-B895-45D086CFD3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970" y="21103"/>
            <a:ext cx="812800" cy="812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85808A-D1B8-C2E6-06A5-C628A2A8B081}"/>
              </a:ext>
            </a:extLst>
          </p:cNvPr>
          <p:cNvSpPr/>
          <p:nvPr/>
        </p:nvSpPr>
        <p:spPr>
          <a:xfrm>
            <a:off x="95594" y="4470148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SALES BY CATEGORY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CF1D11-7EDD-112D-6C2B-606CE285CFB5}"/>
              </a:ext>
            </a:extLst>
          </p:cNvPr>
          <p:cNvSpPr/>
          <p:nvPr/>
        </p:nvSpPr>
        <p:spPr>
          <a:xfrm>
            <a:off x="95594" y="5270959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55D236-ABAD-79D8-CFEE-A3FE04BF7060}"/>
              </a:ext>
            </a:extLst>
          </p:cNvPr>
          <p:cNvSpPr/>
          <p:nvPr/>
        </p:nvSpPr>
        <p:spPr>
          <a:xfrm>
            <a:off x="95594" y="6071771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FORECAST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DA6DCB-6050-D9D7-0438-6FE879ABC69A}"/>
              </a:ext>
            </a:extLst>
          </p:cNvPr>
          <p:cNvSpPr/>
          <p:nvPr/>
        </p:nvSpPr>
        <p:spPr>
          <a:xfrm>
            <a:off x="95594" y="3669337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97D8E0-E8F4-FB53-B471-100CAE653B57}"/>
              </a:ext>
            </a:extLst>
          </p:cNvPr>
          <p:cNvSpPr/>
          <p:nvPr/>
        </p:nvSpPr>
        <p:spPr>
          <a:xfrm>
            <a:off x="95594" y="2067715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22073B-56AE-01AB-DB7D-72B2446BC80A}"/>
              </a:ext>
            </a:extLst>
          </p:cNvPr>
          <p:cNvSpPr/>
          <p:nvPr/>
        </p:nvSpPr>
        <p:spPr>
          <a:xfrm>
            <a:off x="95594" y="1266904"/>
            <a:ext cx="1828800" cy="765126"/>
          </a:xfrm>
          <a:prstGeom prst="roundRect">
            <a:avLst/>
          </a:prstGeom>
          <a:solidFill>
            <a:srgbClr val="F7F7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31"/>
                </a:solidFill>
              </a:rPr>
              <a:t>ORDERS BY STATUS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4E90E1-AA07-8B6D-203F-BB1BA52A4F67}"/>
              </a:ext>
            </a:extLst>
          </p:cNvPr>
          <p:cNvSpPr/>
          <p:nvPr/>
        </p:nvSpPr>
        <p:spPr>
          <a:xfrm>
            <a:off x="95594" y="2868526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MARKETING TREND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37283-AFBB-6C2C-D934-D2F3F5FF6864}"/>
              </a:ext>
            </a:extLst>
          </p:cNvPr>
          <p:cNvSpPr txBox="1"/>
          <p:nvPr/>
        </p:nvSpPr>
        <p:spPr>
          <a:xfrm>
            <a:off x="2743199" y="137813"/>
            <a:ext cx="3278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ORDERS BY STATUS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D33A04-FA76-8351-F911-D6E8F0E14DE1}"/>
              </a:ext>
            </a:extLst>
          </p:cNvPr>
          <p:cNvSpPr txBox="1"/>
          <p:nvPr/>
        </p:nvSpPr>
        <p:spPr>
          <a:xfrm>
            <a:off x="2408383" y="622477"/>
            <a:ext cx="4643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</a:rPr>
              <a:t>An analysis of order completion, shipping, processing, cancellations, and returns..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007B361-564E-80BB-6B3A-1C6C1BA22288}"/>
              </a:ext>
            </a:extLst>
          </p:cNvPr>
          <p:cNvSpPr/>
          <p:nvPr/>
        </p:nvSpPr>
        <p:spPr>
          <a:xfrm>
            <a:off x="289560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TOTAL ORDERS 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125,226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D1CF899-D4C6-6930-CB03-069812FC5A41}"/>
              </a:ext>
            </a:extLst>
          </p:cNvPr>
          <p:cNvSpPr/>
          <p:nvPr/>
        </p:nvSpPr>
        <p:spPr>
          <a:xfrm>
            <a:off x="618744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CANCELLED ORDERS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18,609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9BC36F-9C60-8EF0-4DD2-D955C9A3D8D5}"/>
              </a:ext>
            </a:extLst>
          </p:cNvPr>
          <p:cNvSpPr/>
          <p:nvPr/>
        </p:nvSpPr>
        <p:spPr>
          <a:xfrm>
            <a:off x="783336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RETURNED ORDERS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12,530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F4A7596-194F-AB44-9F11-CB23AE2D37CA}"/>
              </a:ext>
            </a:extLst>
          </p:cNvPr>
          <p:cNvSpPr/>
          <p:nvPr/>
        </p:nvSpPr>
        <p:spPr>
          <a:xfrm>
            <a:off x="454152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COMPLETED ORDERS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31,354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D50EAB-CF75-798B-426B-5B305817DD9B}"/>
              </a:ext>
            </a:extLst>
          </p:cNvPr>
          <p:cNvSpPr/>
          <p:nvPr/>
        </p:nvSpPr>
        <p:spPr>
          <a:xfrm>
            <a:off x="947928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RETURN RATE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10.01%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90C9F8F-5A2F-CC41-C590-0880414C4012}"/>
              </a:ext>
            </a:extLst>
          </p:cNvPr>
          <p:cNvSpPr/>
          <p:nvPr/>
        </p:nvSpPr>
        <p:spPr>
          <a:xfrm>
            <a:off x="4036291" y="2382982"/>
            <a:ext cx="5442989" cy="369628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1D945108-3951-69A6-8E56-EA93F5268F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9352480"/>
              </p:ext>
            </p:extLst>
          </p:nvPr>
        </p:nvGraphicFramePr>
        <p:xfrm>
          <a:off x="4450079" y="2641600"/>
          <a:ext cx="4730866" cy="3057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59074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86CDB-DF20-4E7F-398B-1EA58065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0D6120-2AB1-94F1-5BC8-CF91DC5A28A5}"/>
              </a:ext>
            </a:extLst>
          </p:cNvPr>
          <p:cNvSpPr/>
          <p:nvPr/>
        </p:nvSpPr>
        <p:spPr>
          <a:xfrm>
            <a:off x="0" y="0"/>
            <a:ext cx="1986741" cy="6964218"/>
          </a:xfrm>
          <a:prstGeom prst="rect">
            <a:avLst/>
          </a:prstGeom>
          <a:solidFill>
            <a:srgbClr val="405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BF2FC-8F00-E95D-17C9-B73858AFA382}"/>
              </a:ext>
            </a:extLst>
          </p:cNvPr>
          <p:cNvSpPr txBox="1"/>
          <p:nvPr/>
        </p:nvSpPr>
        <p:spPr>
          <a:xfrm>
            <a:off x="165328" y="661033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FASHION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STORE</a:t>
            </a:r>
          </a:p>
        </p:txBody>
      </p:sp>
      <p:pic>
        <p:nvPicPr>
          <p:cNvPr id="5" name="Graphic 4" descr="Clothes hanger">
            <a:extLst>
              <a:ext uri="{FF2B5EF4-FFF2-40B4-BE49-F238E27FC236}">
                <a16:creationId xmlns:a16="http://schemas.microsoft.com/office/drawing/2014/main" id="{8DF80F22-60AA-E07F-985F-5EAF05CA77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970" y="21103"/>
            <a:ext cx="812800" cy="812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FDF619-3CF2-9DF6-9326-4DE4A7AAD538}"/>
              </a:ext>
            </a:extLst>
          </p:cNvPr>
          <p:cNvSpPr/>
          <p:nvPr/>
        </p:nvSpPr>
        <p:spPr>
          <a:xfrm>
            <a:off x="95594" y="4470148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ORDERS BY STATUS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C573BE-1AB8-99A6-0F52-B41DB56B37B4}"/>
              </a:ext>
            </a:extLst>
          </p:cNvPr>
          <p:cNvSpPr/>
          <p:nvPr/>
        </p:nvSpPr>
        <p:spPr>
          <a:xfrm>
            <a:off x="95594" y="5270959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OVERVIEW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92F790-918F-3C02-FB5E-A70223F2F7CB}"/>
              </a:ext>
            </a:extLst>
          </p:cNvPr>
          <p:cNvSpPr/>
          <p:nvPr/>
        </p:nvSpPr>
        <p:spPr>
          <a:xfrm>
            <a:off x="95594" y="6071771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FORECAST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E0BA6E-90C3-62C5-3B7B-B384DFECCA2A}"/>
              </a:ext>
            </a:extLst>
          </p:cNvPr>
          <p:cNvSpPr/>
          <p:nvPr/>
        </p:nvSpPr>
        <p:spPr>
          <a:xfrm>
            <a:off x="95594" y="3669337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8E8510-EC2D-007C-A86A-9FD9A0F14151}"/>
              </a:ext>
            </a:extLst>
          </p:cNvPr>
          <p:cNvSpPr/>
          <p:nvPr/>
        </p:nvSpPr>
        <p:spPr>
          <a:xfrm>
            <a:off x="95594" y="2067715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FEF4D1-6756-662F-AE46-DD0C4CC19A5D}"/>
              </a:ext>
            </a:extLst>
          </p:cNvPr>
          <p:cNvSpPr/>
          <p:nvPr/>
        </p:nvSpPr>
        <p:spPr>
          <a:xfrm>
            <a:off x="95594" y="1266904"/>
            <a:ext cx="1828800" cy="765126"/>
          </a:xfrm>
          <a:prstGeom prst="roundRect">
            <a:avLst/>
          </a:prstGeom>
          <a:solidFill>
            <a:srgbClr val="F7F7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31"/>
                </a:solidFill>
              </a:rPr>
              <a:t>SALES BY CATEGORY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2E1CC2-5F2F-B22C-DFD5-9A4BC32F2730}"/>
              </a:ext>
            </a:extLst>
          </p:cNvPr>
          <p:cNvSpPr/>
          <p:nvPr/>
        </p:nvSpPr>
        <p:spPr>
          <a:xfrm>
            <a:off x="95594" y="2868526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MARKETING TREND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06AB6-30BD-7154-D164-8875A04A316A}"/>
              </a:ext>
            </a:extLst>
          </p:cNvPr>
          <p:cNvSpPr txBox="1"/>
          <p:nvPr/>
        </p:nvSpPr>
        <p:spPr>
          <a:xfrm>
            <a:off x="2743199" y="137813"/>
            <a:ext cx="32789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SALES BY CATEGORY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5430B-014B-01D8-E0A5-AB84288276D3}"/>
              </a:ext>
            </a:extLst>
          </p:cNvPr>
          <p:cNvSpPr txBox="1"/>
          <p:nvPr/>
        </p:nvSpPr>
        <p:spPr>
          <a:xfrm>
            <a:off x="2408383" y="622477"/>
            <a:ext cx="4643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</a:rPr>
              <a:t>An analysis of sales, profit, and order performance across product categories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D0BB00-6AFA-80C3-D108-5CEB22047303}"/>
              </a:ext>
            </a:extLst>
          </p:cNvPr>
          <p:cNvSpPr/>
          <p:nvPr/>
        </p:nvSpPr>
        <p:spPr>
          <a:xfrm>
            <a:off x="289559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TOTAL SALES </a:t>
            </a:r>
          </a:p>
          <a:p>
            <a:pPr algn="ctr"/>
            <a:r>
              <a:rPr lang="en-US" sz="1400" b="1" dirty="0">
                <a:solidFill>
                  <a:srgbClr val="405331"/>
                </a:solidFill>
              </a:rPr>
              <a:t>$10,827,118.90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FDC9954-C75C-7218-B275-27C6F40F28B4}"/>
              </a:ext>
            </a:extLst>
          </p:cNvPr>
          <p:cNvSpPr/>
          <p:nvPr/>
        </p:nvSpPr>
        <p:spPr>
          <a:xfrm>
            <a:off x="618743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PROFIT MARGIN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 </a:t>
            </a:r>
            <a:r>
              <a:rPr lang="en-US" sz="1400" b="1" dirty="0">
                <a:solidFill>
                  <a:srgbClr val="405331"/>
                </a:solidFill>
              </a:rPr>
              <a:t>51.90%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42EB834-AE8C-150D-D143-D21D1AB4E749}"/>
              </a:ext>
            </a:extLst>
          </p:cNvPr>
          <p:cNvSpPr/>
          <p:nvPr/>
        </p:nvSpPr>
        <p:spPr>
          <a:xfrm>
            <a:off x="783336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TOP CATEGORY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 </a:t>
            </a:r>
            <a:r>
              <a:rPr lang="en-US" sz="1400" b="1" dirty="0">
                <a:solidFill>
                  <a:srgbClr val="405331"/>
                </a:solidFill>
              </a:rPr>
              <a:t>Outerwear &amp; Coats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B88D4A-9714-A213-F142-B9133FDD8729}"/>
              </a:ext>
            </a:extLst>
          </p:cNvPr>
          <p:cNvSpPr/>
          <p:nvPr/>
        </p:nvSpPr>
        <p:spPr>
          <a:xfrm>
            <a:off x="454151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TOTAL PROFIT</a:t>
            </a:r>
          </a:p>
          <a:p>
            <a:pPr algn="ctr"/>
            <a:r>
              <a:rPr lang="en-US" sz="1400" b="1" dirty="0">
                <a:solidFill>
                  <a:srgbClr val="405331"/>
                </a:solidFill>
              </a:rPr>
              <a:t>$5,618,763.61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18B567D-5B52-22D3-B2A6-246686B6A793}"/>
              </a:ext>
            </a:extLst>
          </p:cNvPr>
          <p:cNvSpPr/>
          <p:nvPr/>
        </p:nvSpPr>
        <p:spPr>
          <a:xfrm>
            <a:off x="4036291" y="2382982"/>
            <a:ext cx="5908898" cy="385254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BEAF8FB-DECF-5445-CA8A-339D6EF285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7383790"/>
              </p:ext>
            </p:extLst>
          </p:nvPr>
        </p:nvGraphicFramePr>
        <p:xfrm>
          <a:off x="4382652" y="2664823"/>
          <a:ext cx="5344822" cy="3371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946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3412D-CEB7-E24D-1E3B-F0252E52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F1ABAB-AC7C-5413-96B8-0609A761268A}"/>
              </a:ext>
            </a:extLst>
          </p:cNvPr>
          <p:cNvSpPr/>
          <p:nvPr/>
        </p:nvSpPr>
        <p:spPr>
          <a:xfrm>
            <a:off x="0" y="0"/>
            <a:ext cx="1986741" cy="6964218"/>
          </a:xfrm>
          <a:prstGeom prst="rect">
            <a:avLst/>
          </a:prstGeom>
          <a:solidFill>
            <a:srgbClr val="405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44945-17A6-CCCC-B66B-31CAF05D9A0A}"/>
              </a:ext>
            </a:extLst>
          </p:cNvPr>
          <p:cNvSpPr txBox="1"/>
          <p:nvPr/>
        </p:nvSpPr>
        <p:spPr>
          <a:xfrm>
            <a:off x="165328" y="661033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FASHION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STORE</a:t>
            </a:r>
          </a:p>
        </p:txBody>
      </p:sp>
      <p:pic>
        <p:nvPicPr>
          <p:cNvPr id="5" name="Graphic 4" descr="Clothes hanger">
            <a:extLst>
              <a:ext uri="{FF2B5EF4-FFF2-40B4-BE49-F238E27FC236}">
                <a16:creationId xmlns:a16="http://schemas.microsoft.com/office/drawing/2014/main" id="{F5EB15D1-69C2-6258-AED3-3BA69D578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970" y="21103"/>
            <a:ext cx="812800" cy="812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BD9667-5006-43D0-9A3C-31BFEF89F518}"/>
              </a:ext>
            </a:extLst>
          </p:cNvPr>
          <p:cNvSpPr/>
          <p:nvPr/>
        </p:nvSpPr>
        <p:spPr>
          <a:xfrm>
            <a:off x="95594" y="4470148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ORDERS BY STATUS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028C4B-4430-2AC9-1A02-AA82BAA9773D}"/>
              </a:ext>
            </a:extLst>
          </p:cNvPr>
          <p:cNvSpPr/>
          <p:nvPr/>
        </p:nvSpPr>
        <p:spPr>
          <a:xfrm>
            <a:off x="95594" y="5270959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SALES BY CATEGORY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B9E3E0-BD61-C40F-8089-A3F0EB183D0C}"/>
              </a:ext>
            </a:extLst>
          </p:cNvPr>
          <p:cNvSpPr/>
          <p:nvPr/>
        </p:nvSpPr>
        <p:spPr>
          <a:xfrm>
            <a:off x="95594" y="6071771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FORECAST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D98DA7-70BC-9508-F877-6B84A617BF5A}"/>
              </a:ext>
            </a:extLst>
          </p:cNvPr>
          <p:cNvSpPr/>
          <p:nvPr/>
        </p:nvSpPr>
        <p:spPr>
          <a:xfrm>
            <a:off x="95594" y="3669337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0F3B7A-418B-E169-0FBF-ADDD64FF22C0}"/>
              </a:ext>
            </a:extLst>
          </p:cNvPr>
          <p:cNvSpPr/>
          <p:nvPr/>
        </p:nvSpPr>
        <p:spPr>
          <a:xfrm>
            <a:off x="95594" y="2067715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8B1F82-52DC-7479-D817-5362FF625997}"/>
              </a:ext>
            </a:extLst>
          </p:cNvPr>
          <p:cNvSpPr/>
          <p:nvPr/>
        </p:nvSpPr>
        <p:spPr>
          <a:xfrm>
            <a:off x="95594" y="1266904"/>
            <a:ext cx="1828800" cy="765126"/>
          </a:xfrm>
          <a:prstGeom prst="roundRect">
            <a:avLst/>
          </a:prstGeom>
          <a:solidFill>
            <a:srgbClr val="F7F7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31"/>
                </a:solidFill>
              </a:rPr>
              <a:t>INVENTORY OVERVIEW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80BFF8-1033-96A0-F257-2635E73DF529}"/>
              </a:ext>
            </a:extLst>
          </p:cNvPr>
          <p:cNvSpPr/>
          <p:nvPr/>
        </p:nvSpPr>
        <p:spPr>
          <a:xfrm>
            <a:off x="95594" y="2868526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MARKETING TREND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9CD10-5528-DFD6-3762-4A3ECE08BBC1}"/>
              </a:ext>
            </a:extLst>
          </p:cNvPr>
          <p:cNvSpPr txBox="1"/>
          <p:nvPr/>
        </p:nvSpPr>
        <p:spPr>
          <a:xfrm>
            <a:off x="2743199" y="137813"/>
            <a:ext cx="4308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INVENTORY 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7D5FC-DE50-A0E0-236A-8E827265AEE9}"/>
              </a:ext>
            </a:extLst>
          </p:cNvPr>
          <p:cNvSpPr txBox="1"/>
          <p:nvPr/>
        </p:nvSpPr>
        <p:spPr>
          <a:xfrm>
            <a:off x="2408383" y="622477"/>
            <a:ext cx="4643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</a:rPr>
              <a:t>An analysis of stock levels, inventory availability, and product distribution across categories and distribution centers.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8F89DA-94D6-DEC2-1E93-0B82EBDB436F}"/>
              </a:ext>
            </a:extLst>
          </p:cNvPr>
          <p:cNvSpPr/>
          <p:nvPr/>
        </p:nvSpPr>
        <p:spPr>
          <a:xfrm>
            <a:off x="289559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TOTAL INVENTORY ITEMS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490,705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AFD963D-AC72-768F-3C9D-D4AFEEB61520}"/>
              </a:ext>
            </a:extLst>
          </p:cNvPr>
          <p:cNvSpPr/>
          <p:nvPr/>
        </p:nvSpPr>
        <p:spPr>
          <a:xfrm>
            <a:off x="618743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AVAILABLE ITEMS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 308,946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FCFE92-A5E0-644A-925F-7537A59AF957}"/>
              </a:ext>
            </a:extLst>
          </p:cNvPr>
          <p:cNvSpPr/>
          <p:nvPr/>
        </p:nvSpPr>
        <p:spPr>
          <a:xfrm>
            <a:off x="783336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INVENTORY VALUE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 $</a:t>
            </a:r>
            <a:r>
              <a:rPr lang="en-US" sz="1600" b="1" dirty="0">
                <a:solidFill>
                  <a:srgbClr val="405331"/>
                </a:solidFill>
              </a:rPr>
              <a:t>8,854,752.69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14B6660-9F38-2695-BFFE-4D043CCD0591}"/>
              </a:ext>
            </a:extLst>
          </p:cNvPr>
          <p:cNvSpPr/>
          <p:nvPr/>
        </p:nvSpPr>
        <p:spPr>
          <a:xfrm>
            <a:off x="454151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SOLD ITEMS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181,759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C2033A7-7CC2-0A3B-65E7-01B5747E0B87}"/>
              </a:ext>
            </a:extLst>
          </p:cNvPr>
          <p:cNvSpPr/>
          <p:nvPr/>
        </p:nvSpPr>
        <p:spPr>
          <a:xfrm>
            <a:off x="6966857" y="2708366"/>
            <a:ext cx="5041078" cy="35271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EC3C358-A675-4A36-AC0D-0DFA93DDB2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9635588"/>
              </p:ext>
            </p:extLst>
          </p:nvPr>
        </p:nvGraphicFramePr>
        <p:xfrm>
          <a:off x="7051503" y="2641307"/>
          <a:ext cx="4956432" cy="3398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E42C55-7571-7FA9-2385-4772863F59CD}"/>
              </a:ext>
            </a:extLst>
          </p:cNvPr>
          <p:cNvSpPr/>
          <p:nvPr/>
        </p:nvSpPr>
        <p:spPr>
          <a:xfrm>
            <a:off x="2166983" y="2708366"/>
            <a:ext cx="4643120" cy="358811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7F69A57-10DA-0DD1-7AA6-AA28B82D71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527717"/>
              </p:ext>
            </p:extLst>
          </p:nvPr>
        </p:nvGraphicFramePr>
        <p:xfrm>
          <a:off x="2408384" y="2637902"/>
          <a:ext cx="4314634" cy="3398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7B9080-167B-F862-30FE-56DEBDA79467}"/>
              </a:ext>
            </a:extLst>
          </p:cNvPr>
          <p:cNvSpPr/>
          <p:nvPr/>
        </p:nvSpPr>
        <p:spPr>
          <a:xfrm>
            <a:off x="9529719" y="1209070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LOW STOCK PRODUCTS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 15,229</a:t>
            </a:r>
          </a:p>
          <a:p>
            <a:pPr algn="ctr"/>
            <a:r>
              <a:rPr lang="en-US" sz="1000" b="1" dirty="0">
                <a:solidFill>
                  <a:srgbClr val="405331"/>
                </a:solidFill>
              </a:rPr>
              <a:t>PRODUCTS WITH 1-10 ITEMS AVAILABLE</a:t>
            </a:r>
          </a:p>
        </p:txBody>
      </p:sp>
    </p:spTree>
    <p:extLst>
      <p:ext uri="{BB962C8B-B14F-4D97-AF65-F5344CB8AC3E}">
        <p14:creationId xmlns:p14="http://schemas.microsoft.com/office/powerpoint/2010/main" val="416623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25E53-EEFF-29FB-5707-B71DCBC18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73F6E-D7F9-E980-1F14-3BF90354E304}"/>
              </a:ext>
            </a:extLst>
          </p:cNvPr>
          <p:cNvSpPr/>
          <p:nvPr/>
        </p:nvSpPr>
        <p:spPr>
          <a:xfrm>
            <a:off x="0" y="0"/>
            <a:ext cx="1986741" cy="6964218"/>
          </a:xfrm>
          <a:prstGeom prst="rect">
            <a:avLst/>
          </a:prstGeom>
          <a:solidFill>
            <a:srgbClr val="4053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7E8E6-2202-AED1-4F50-DF8D5C327487}"/>
              </a:ext>
            </a:extLst>
          </p:cNvPr>
          <p:cNvSpPr txBox="1"/>
          <p:nvPr/>
        </p:nvSpPr>
        <p:spPr>
          <a:xfrm>
            <a:off x="165328" y="661033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FASHION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STORE</a:t>
            </a:r>
          </a:p>
        </p:txBody>
      </p:sp>
      <p:pic>
        <p:nvPicPr>
          <p:cNvPr id="5" name="Graphic 4" descr="Clothes hanger">
            <a:extLst>
              <a:ext uri="{FF2B5EF4-FFF2-40B4-BE49-F238E27FC236}">
                <a16:creationId xmlns:a16="http://schemas.microsoft.com/office/drawing/2014/main" id="{04020BBD-5B16-7DE8-0743-29B96A4A0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970" y="21103"/>
            <a:ext cx="812800" cy="8128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BDDC21-3C0C-1E1E-D4C9-45CEAEDAE4EA}"/>
              </a:ext>
            </a:extLst>
          </p:cNvPr>
          <p:cNvSpPr/>
          <p:nvPr/>
        </p:nvSpPr>
        <p:spPr>
          <a:xfrm>
            <a:off x="95594" y="4470148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ORDERS BY STATUS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1872FF-BA05-8398-EC0D-37D536184135}"/>
              </a:ext>
            </a:extLst>
          </p:cNvPr>
          <p:cNvSpPr/>
          <p:nvPr/>
        </p:nvSpPr>
        <p:spPr>
          <a:xfrm>
            <a:off x="95594" y="5270959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SALES BY CATEGORY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F755B1-661C-2DE8-C3D2-BD1019F1E780}"/>
              </a:ext>
            </a:extLst>
          </p:cNvPr>
          <p:cNvSpPr/>
          <p:nvPr/>
        </p:nvSpPr>
        <p:spPr>
          <a:xfrm>
            <a:off x="95594" y="6071771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INVENTORY OVERVIEW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CE0100-9FA8-B714-86C8-A73BC4CB1854}"/>
              </a:ext>
            </a:extLst>
          </p:cNvPr>
          <p:cNvSpPr/>
          <p:nvPr/>
        </p:nvSpPr>
        <p:spPr>
          <a:xfrm>
            <a:off x="95594" y="3669337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403348-7D6F-7D5A-FDC5-86CAC21C8C1C}"/>
              </a:ext>
            </a:extLst>
          </p:cNvPr>
          <p:cNvSpPr/>
          <p:nvPr/>
        </p:nvSpPr>
        <p:spPr>
          <a:xfrm>
            <a:off x="95594" y="2067715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HOME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495601-6D1C-3F70-E652-C9AF670BB599}"/>
              </a:ext>
            </a:extLst>
          </p:cNvPr>
          <p:cNvSpPr/>
          <p:nvPr/>
        </p:nvSpPr>
        <p:spPr>
          <a:xfrm>
            <a:off x="95594" y="1266904"/>
            <a:ext cx="1828800" cy="765126"/>
          </a:xfrm>
          <a:prstGeom prst="roundRect">
            <a:avLst/>
          </a:prstGeom>
          <a:solidFill>
            <a:srgbClr val="F7F7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405331"/>
                </a:solidFill>
              </a:rPr>
              <a:t>INVENTORY FORECAST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A35971-C851-E569-2FD7-04744D7D4EAC}"/>
              </a:ext>
            </a:extLst>
          </p:cNvPr>
          <p:cNvSpPr/>
          <p:nvPr/>
        </p:nvSpPr>
        <p:spPr>
          <a:xfrm>
            <a:off x="95594" y="2868526"/>
            <a:ext cx="1828800" cy="7651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MARKETING TREND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811A5-BEE8-F63C-EBEB-CCAA1E2758EA}"/>
              </a:ext>
            </a:extLst>
          </p:cNvPr>
          <p:cNvSpPr txBox="1"/>
          <p:nvPr/>
        </p:nvSpPr>
        <p:spPr>
          <a:xfrm>
            <a:off x="2743199" y="137813"/>
            <a:ext cx="4308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INVENTORY FORECAST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176C5-AB15-5D3C-E24B-6E3765B7E8E8}"/>
              </a:ext>
            </a:extLst>
          </p:cNvPr>
          <p:cNvSpPr txBox="1"/>
          <p:nvPr/>
        </p:nvSpPr>
        <p:spPr>
          <a:xfrm>
            <a:off x="2408383" y="622477"/>
            <a:ext cx="4643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666666"/>
                </a:solidFill>
              </a:rPr>
              <a:t>A forecast of future inventory demand, stock availability, and potential replenishment needs.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2C6480-0778-C57F-D243-4A920F82BC3B}"/>
              </a:ext>
            </a:extLst>
          </p:cNvPr>
          <p:cNvSpPr/>
          <p:nvPr/>
        </p:nvSpPr>
        <p:spPr>
          <a:xfrm>
            <a:off x="289559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FORECAST DEMAND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14,905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0447956-3501-9A49-DD7B-9420281823D7}"/>
              </a:ext>
            </a:extLst>
          </p:cNvPr>
          <p:cNvSpPr/>
          <p:nvPr/>
        </p:nvSpPr>
        <p:spPr>
          <a:xfrm>
            <a:off x="618743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STOCK GAP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 249,041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1A81493-6474-3FB6-2477-694DF62484DD}"/>
              </a:ext>
            </a:extLst>
          </p:cNvPr>
          <p:cNvSpPr/>
          <p:nvPr/>
        </p:nvSpPr>
        <p:spPr>
          <a:xfrm>
            <a:off x="7833360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REORDER REQUIRED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 NO</a:t>
            </a:r>
            <a:endParaRPr lang="en-US" sz="1400" b="1" dirty="0">
              <a:solidFill>
                <a:srgbClr val="40533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A7BC9EE-AA9B-422B-E127-18AEA5F2CCC4}"/>
              </a:ext>
            </a:extLst>
          </p:cNvPr>
          <p:cNvSpPr/>
          <p:nvPr/>
        </p:nvSpPr>
        <p:spPr>
          <a:xfrm>
            <a:off x="4541519" y="1237987"/>
            <a:ext cx="1554480" cy="8229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405331"/>
                </a:solidFill>
              </a:rPr>
              <a:t>EXPECTED AVAILABLE STOCK</a:t>
            </a:r>
          </a:p>
          <a:p>
            <a:pPr algn="ctr"/>
            <a:r>
              <a:rPr lang="en-US" b="1" dirty="0">
                <a:solidFill>
                  <a:srgbClr val="405331"/>
                </a:solidFill>
              </a:rPr>
              <a:t>308,946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4328B3-1278-F0A8-9346-FEC3508587D7}"/>
              </a:ext>
            </a:extLst>
          </p:cNvPr>
          <p:cNvSpPr/>
          <p:nvPr/>
        </p:nvSpPr>
        <p:spPr>
          <a:xfrm>
            <a:off x="4036291" y="2382982"/>
            <a:ext cx="5908898" cy="385254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193C02D-73E4-2264-7C45-D5B74F1A63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4090114"/>
              </p:ext>
            </p:extLst>
          </p:nvPr>
        </p:nvGraphicFramePr>
        <p:xfrm>
          <a:off x="4336869" y="2637901"/>
          <a:ext cx="5468982" cy="3292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7220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522D6-570F-CC43-EE38-7BC926B24978}"/>
              </a:ext>
            </a:extLst>
          </p:cNvPr>
          <p:cNvSpPr txBox="1"/>
          <p:nvPr/>
        </p:nvSpPr>
        <p:spPr>
          <a:xfrm>
            <a:off x="156754" y="174171"/>
            <a:ext cx="116346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KEY INSIGHTS</a:t>
            </a:r>
          </a:p>
          <a:p>
            <a:r>
              <a:rPr lang="en-US" sz="1100" b="1" dirty="0">
                <a:solidFill>
                  <a:srgbClr val="666666"/>
                </a:solidFill>
              </a:rPr>
              <a:t>Summary of the most important findings from the sales and inventory analysis.</a:t>
            </a:r>
          </a:p>
          <a:p>
            <a:endParaRPr lang="en-US" sz="1100" b="1" dirty="0">
              <a:solidFill>
                <a:srgbClr val="6666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EFA85F-61F0-4E1D-F2C3-A4F59BE21749}"/>
              </a:ext>
            </a:extLst>
          </p:cNvPr>
          <p:cNvSpPr/>
          <p:nvPr/>
        </p:nvSpPr>
        <p:spPr>
          <a:xfrm>
            <a:off x="452844" y="1328057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000" dirty="0">
                <a:solidFill>
                  <a:srgbClr val="405331"/>
                </a:solidFill>
              </a:rPr>
              <a:t>FINANCIAL PERFORMANCE</a:t>
            </a:r>
          </a:p>
          <a:p>
            <a:pPr algn="ctr"/>
            <a:endParaRPr lang="en-US" sz="1000" b="1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$10.83M Sales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$5.62M Profit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51.90% Margin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3BEF6F-7774-7155-1CA9-960F797C7FBE}"/>
              </a:ext>
            </a:extLst>
          </p:cNvPr>
          <p:cNvSpPr/>
          <p:nvPr/>
        </p:nvSpPr>
        <p:spPr>
          <a:xfrm>
            <a:off x="8177347" y="1232263"/>
            <a:ext cx="3788230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000" dirty="0">
                <a:solidFill>
                  <a:srgbClr val="405331"/>
                </a:solidFill>
              </a:rPr>
              <a:t>TOP PERFORMANCE 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Outerwear &amp; Coats The North Face Apex Bionic Jacket Houston TX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50FF8A-5577-6055-DF4F-7C1F60077C18}"/>
              </a:ext>
            </a:extLst>
          </p:cNvPr>
          <p:cNvSpPr/>
          <p:nvPr/>
        </p:nvSpPr>
        <p:spPr>
          <a:xfrm>
            <a:off x="8299270" y="4150011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FORCAST OUTLOOK 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Forecast Demand: 14,905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Stock Gap: 294,041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Reorder Required: No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B710D3-4A71-73D6-F96E-E3012277E653}"/>
              </a:ext>
            </a:extLst>
          </p:cNvPr>
          <p:cNvSpPr/>
          <p:nvPr/>
        </p:nvSpPr>
        <p:spPr>
          <a:xfrm>
            <a:off x="4380411" y="4150011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INVENTORY POSITION 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490,705 Total Items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308,946 Available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$8.85M Inventory Value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61B55C-1DE1-4DD6-0F9A-12E5176E772B}"/>
              </a:ext>
            </a:extLst>
          </p:cNvPr>
          <p:cNvSpPr/>
          <p:nvPr/>
        </p:nvSpPr>
        <p:spPr>
          <a:xfrm>
            <a:off x="583474" y="4245805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SALES MOMENTUM 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Peak Month: January 2024Sales: $826,763.25YoY Growth: 187.64%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68F801-D5BA-F6DB-2CA9-1D01101EDFDC}"/>
              </a:ext>
            </a:extLst>
          </p:cNvPr>
          <p:cNvSpPr/>
          <p:nvPr/>
        </p:nvSpPr>
        <p:spPr>
          <a:xfrm>
            <a:off x="4315096" y="1232263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125,226 Orders</a:t>
            </a: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$86.46 per Order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94D62-5D64-B2CF-3B77-E2DEAEAA0534}"/>
              </a:ext>
            </a:extLst>
          </p:cNvPr>
          <p:cNvSpPr txBox="1"/>
          <p:nvPr/>
        </p:nvSpPr>
        <p:spPr>
          <a:xfrm>
            <a:off x="5129350" y="1393372"/>
            <a:ext cx="178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05331"/>
                </a:solidFill>
              </a:rPr>
              <a:t>ORDER PERFORMANCE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9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6A0DB-E5D1-930E-716C-4EFCD550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625169-C6BF-71A5-B0B9-FF4091A80602}"/>
              </a:ext>
            </a:extLst>
          </p:cNvPr>
          <p:cNvSpPr txBox="1"/>
          <p:nvPr/>
        </p:nvSpPr>
        <p:spPr>
          <a:xfrm>
            <a:off x="156754" y="174171"/>
            <a:ext cx="1163465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405331"/>
                </a:solidFill>
              </a:rPr>
              <a:t>RECOMMENDATIONS</a:t>
            </a:r>
          </a:p>
          <a:p>
            <a:r>
              <a:rPr lang="en-US" sz="1100" b="1" dirty="0">
                <a:solidFill>
                  <a:srgbClr val="666666"/>
                </a:solidFill>
              </a:rPr>
              <a:t>Suggested actions based on sales, order, and inventory performance.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48F80B-7051-C202-2ABD-ED50FCFA01E3}"/>
              </a:ext>
            </a:extLst>
          </p:cNvPr>
          <p:cNvSpPr/>
          <p:nvPr/>
        </p:nvSpPr>
        <p:spPr>
          <a:xfrm>
            <a:off x="452844" y="1328057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000" dirty="0">
                <a:solidFill>
                  <a:srgbClr val="405331"/>
                </a:solidFill>
              </a:rPr>
              <a:t>INVENTORY PLANNING</a:t>
            </a:r>
          </a:p>
          <a:p>
            <a:pPr algn="ctr"/>
            <a:endParaRPr lang="en-US" sz="1000" b="1" dirty="0">
              <a:solidFill>
                <a:srgbClr val="405331"/>
              </a:solidFill>
            </a:endParaRPr>
          </a:p>
          <a:p>
            <a:pPr algn="ctr"/>
            <a:r>
              <a:rPr lang="en-US" sz="1400" b="1" dirty="0">
                <a:solidFill>
                  <a:srgbClr val="405331"/>
                </a:solidFill>
              </a:rPr>
              <a:t>Maintain sufficient stock for high-demand categories, especially Outerwear &amp; Coats.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22E435-5CC4-D861-1022-0E85BE96A1B4}"/>
              </a:ext>
            </a:extLst>
          </p:cNvPr>
          <p:cNvSpPr/>
          <p:nvPr/>
        </p:nvSpPr>
        <p:spPr>
          <a:xfrm>
            <a:off x="8177347" y="1232263"/>
            <a:ext cx="3788230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000" dirty="0">
                <a:solidFill>
                  <a:srgbClr val="405331"/>
                </a:solidFill>
              </a:rPr>
              <a:t>RETURNS &amp; CANCELLATIONS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r>
              <a:rPr lang="en-US" sz="1400" b="1" dirty="0">
                <a:solidFill>
                  <a:srgbClr val="405331"/>
                </a:solidFill>
              </a:rPr>
              <a:t>Investigate returned and cancelled orders to improve customer experience and reduce losses.</a:t>
            </a: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  <a:p>
            <a:pPr algn="ctr"/>
            <a:endParaRPr lang="en-US" sz="1000" dirty="0">
              <a:solidFill>
                <a:srgbClr val="40533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200B03-9BD4-DD5B-28DE-15BA49BD06C4}"/>
              </a:ext>
            </a:extLst>
          </p:cNvPr>
          <p:cNvSpPr/>
          <p:nvPr/>
        </p:nvSpPr>
        <p:spPr>
          <a:xfrm>
            <a:off x="8299270" y="4150011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05331"/>
                </a:solidFill>
              </a:rPr>
              <a:t>Monitor the 15,229 products with only 1–10 items available and prioritize urgent replenishment.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946CBD-2206-1CDF-8889-F289E8E447C9}"/>
              </a:ext>
            </a:extLst>
          </p:cNvPr>
          <p:cNvSpPr/>
          <p:nvPr/>
        </p:nvSpPr>
        <p:spPr>
          <a:xfrm>
            <a:off x="4380411" y="4150011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DEMAND FORECASTING</a:t>
            </a:r>
          </a:p>
          <a:p>
            <a:pPr algn="ctr"/>
            <a:endParaRPr lang="en-US" sz="1000" b="1" dirty="0">
              <a:solidFill>
                <a:srgbClr val="405331"/>
              </a:solidFill>
            </a:endParaRPr>
          </a:p>
          <a:p>
            <a:pPr algn="ctr"/>
            <a:r>
              <a:rPr lang="en-US" sz="1600" b="1" dirty="0">
                <a:solidFill>
                  <a:srgbClr val="405331"/>
                </a:solidFill>
              </a:rPr>
              <a:t>Use monthly forecasting to support purchasing and replenishment decisions</a:t>
            </a:r>
            <a:r>
              <a:rPr lang="en-US" sz="1600" dirty="0">
                <a:solidFill>
                  <a:srgbClr val="405331"/>
                </a:solidFill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40670D-7E45-F3AC-31F8-8A6C77CFE42A}"/>
              </a:ext>
            </a:extLst>
          </p:cNvPr>
          <p:cNvSpPr/>
          <p:nvPr/>
        </p:nvSpPr>
        <p:spPr>
          <a:xfrm>
            <a:off x="583474" y="4245805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405331"/>
                </a:solidFill>
              </a:rPr>
              <a:t>Allocate more inventory to high-performing distribution centers such as Houston TX.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877DE8-CE9C-FF52-1ACF-9A2444B66669}"/>
              </a:ext>
            </a:extLst>
          </p:cNvPr>
          <p:cNvSpPr/>
          <p:nvPr/>
        </p:nvSpPr>
        <p:spPr>
          <a:xfrm>
            <a:off x="4315096" y="1232263"/>
            <a:ext cx="3492137" cy="1767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405331"/>
                </a:solidFill>
              </a:rPr>
              <a:t>Prioritize top-selling products in purchasing and marketing campaigns.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C433F-ADCD-6B61-39A2-89DEA14AAC2B}"/>
              </a:ext>
            </a:extLst>
          </p:cNvPr>
          <p:cNvSpPr txBox="1"/>
          <p:nvPr/>
        </p:nvSpPr>
        <p:spPr>
          <a:xfrm>
            <a:off x="5129350" y="1393372"/>
            <a:ext cx="178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05331"/>
                </a:solidFill>
              </a:rPr>
              <a:t>PRODUCT STRATEGY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DA7C0B-3D40-34BD-C1DB-9F79CC66E7C4}"/>
              </a:ext>
            </a:extLst>
          </p:cNvPr>
          <p:cNvSpPr txBox="1"/>
          <p:nvPr/>
        </p:nvSpPr>
        <p:spPr>
          <a:xfrm>
            <a:off x="1145176" y="4489645"/>
            <a:ext cx="2368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05331"/>
                </a:solidFill>
              </a:rPr>
              <a:t>DISTRIBUTION OPTIMIZATION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7CF35-D07F-7604-3CE0-F3C3808A850D}"/>
              </a:ext>
            </a:extLst>
          </p:cNvPr>
          <p:cNvSpPr txBox="1"/>
          <p:nvPr/>
        </p:nvSpPr>
        <p:spPr>
          <a:xfrm>
            <a:off x="9178834" y="4474256"/>
            <a:ext cx="2107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405331"/>
                </a:solidFill>
              </a:rPr>
              <a:t>LOW STOCK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82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596</Words>
  <Application>Microsoft Office PowerPoint</Application>
  <PresentationFormat>Widescreen</PresentationFormat>
  <Paragraphs>202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Ibrahim</dc:creator>
  <cp:lastModifiedBy>mohamed Ibrahim</cp:lastModifiedBy>
  <cp:revision>10</cp:revision>
  <dcterms:created xsi:type="dcterms:W3CDTF">2026-07-21T20:29:32Z</dcterms:created>
  <dcterms:modified xsi:type="dcterms:W3CDTF">2026-07-23T20:56:58Z</dcterms:modified>
</cp:coreProperties>
</file>